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905" r:id="rId3"/>
    <p:sldId id="977" r:id="rId4"/>
    <p:sldId id="978" r:id="rId5"/>
    <p:sldId id="922" r:id="rId6"/>
    <p:sldId id="919" r:id="rId7"/>
    <p:sldId id="952" r:id="rId8"/>
    <p:sldId id="953" r:id="rId9"/>
    <p:sldId id="955" r:id="rId10"/>
    <p:sldId id="956" r:id="rId11"/>
    <p:sldId id="879" r:id="rId12"/>
    <p:sldId id="923" r:id="rId13"/>
    <p:sldId id="976" r:id="rId14"/>
    <p:sldId id="939" r:id="rId15"/>
    <p:sldId id="941" r:id="rId16"/>
    <p:sldId id="940" r:id="rId17"/>
    <p:sldId id="943" r:id="rId18"/>
    <p:sldId id="944" r:id="rId19"/>
    <p:sldId id="968" r:id="rId20"/>
    <p:sldId id="961" r:id="rId21"/>
    <p:sldId id="946" r:id="rId22"/>
    <p:sldId id="973" r:id="rId23"/>
    <p:sldId id="9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Weina" initials="W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F00"/>
    <a:srgbClr val="945200"/>
    <a:srgbClr val="929000"/>
    <a:srgbClr val="000000"/>
    <a:srgbClr val="B01C32"/>
    <a:srgbClr val="B4B5B4"/>
    <a:srgbClr val="C0422B"/>
    <a:srgbClr val="C82506"/>
    <a:srgbClr val="00CC99"/>
    <a:srgbClr val="2D9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2" autoAdjust="0"/>
    <p:restoredTop sz="55852"/>
  </p:normalViewPr>
  <p:slideViewPr>
    <p:cSldViewPr snapToGrid="0">
      <p:cViewPr varScale="1">
        <p:scale>
          <a:sx n="73" d="100"/>
          <a:sy n="73" d="100"/>
        </p:scale>
        <p:origin x="2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39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08E0-14CB-453F-A491-6017DB82F210}" type="datetimeFigureOut">
              <a:rPr lang="en-US" smtClean="0"/>
              <a:t>6/18/23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25E7A-9175-4072-8090-43E017F7C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86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3D05B-BD28-48D4-8B95-CEE2EF91D0D3}" type="datetimeFigureOut">
              <a:rPr lang="en-US" smtClean="0"/>
              <a:t>6/18/23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4D732-70D1-4F40-B510-EE62F89C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4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3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95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82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51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8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06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42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78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5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6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tx1"/>
                    </a:solidFill>
                    <a:sym typeface="Helvetica Light"/>
                  </a:rPr>
                  <a:t>Does the queueing probability go to zero as 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  <a:sym typeface="Helvetica Light"/>
                  </a:rPr>
                  <a:t>𝑛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Light"/>
                  </a:rPr>
                  <a:t>→∞</a:t>
                </a: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?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91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tx1"/>
                    </a:solidFill>
                    <a:sym typeface="Helvetica Light"/>
                  </a:rPr>
                  <a:t>Does the queueing probability go to zero as 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  <a:sym typeface="Helvetica Light"/>
                  </a:rPr>
                  <a:t>𝑛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Light"/>
                  </a:rPr>
                  <a:t>→∞</a:t>
                </a: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?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34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01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16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1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43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5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91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059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D732-70D1-4F40-B510-EE62F89CB1E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1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8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5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4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3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5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1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8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042821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FD766-8826-654B-B56E-76434CD0B8DC}"/>
              </a:ext>
            </a:extLst>
          </p:cNvPr>
          <p:cNvSpPr/>
          <p:nvPr userDrawn="1"/>
        </p:nvSpPr>
        <p:spPr>
          <a:xfrm>
            <a:off x="9721918" y="2117"/>
            <a:ext cx="2470082" cy="97971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36576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🥷🏻</a:t>
            </a:r>
          </a:p>
        </p:txBody>
      </p:sp>
    </p:spTree>
    <p:extLst>
      <p:ext uri="{BB962C8B-B14F-4D97-AF65-F5344CB8AC3E}">
        <p14:creationId xmlns:p14="http://schemas.microsoft.com/office/powerpoint/2010/main" val="353831913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0">
                <a:solidFill>
                  <a:srgbClr val="C00000"/>
                </a:solidFill>
                <a:latin typeface="+mj-lt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5106838"/>
          </a:xfrm>
          <a:prstGeom prst="rect">
            <a:avLst/>
          </a:prstGeom>
        </p:spPr>
        <p:txBody>
          <a:bodyPr anchor="t"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2000"/>
            </a:lvl3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ED78D7-DF7E-E444-BAE6-BF18AAE05A7E}"/>
              </a:ext>
            </a:extLst>
          </p:cNvPr>
          <p:cNvSpPr/>
          <p:nvPr userDrawn="1"/>
        </p:nvSpPr>
        <p:spPr>
          <a:xfrm>
            <a:off x="4667255" y="6494006"/>
            <a:ext cx="7534656" cy="363994"/>
          </a:xfrm>
          <a:prstGeom prst="rect">
            <a:avLst/>
          </a:prstGeom>
          <a:solidFill>
            <a:srgbClr val="B4B5B4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Sharp Waiting-Time Bounds for Multiserver Jobs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sz="quarter" idx="2"/>
          </p:nvPr>
        </p:nvSpPr>
        <p:spPr>
          <a:xfrm>
            <a:off x="11825205" y="6494006"/>
            <a:ext cx="376706" cy="348813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2BE43-4A4E-B54D-AEF0-4DDDFFD5D070}"/>
              </a:ext>
            </a:extLst>
          </p:cNvPr>
          <p:cNvSpPr/>
          <p:nvPr userDrawn="1"/>
        </p:nvSpPr>
        <p:spPr>
          <a:xfrm>
            <a:off x="0" y="6494006"/>
            <a:ext cx="4667255" cy="363994"/>
          </a:xfrm>
          <a:prstGeom prst="rect">
            <a:avLst/>
          </a:prstGeom>
          <a:solidFill>
            <a:srgbClr val="B01C3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50800" rIns="18288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Yige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Hong &amp;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Weina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Wang (CMU)</a:t>
            </a:r>
          </a:p>
        </p:txBody>
      </p:sp>
    </p:spTree>
    <p:extLst>
      <p:ext uri="{BB962C8B-B14F-4D97-AF65-F5344CB8AC3E}">
        <p14:creationId xmlns:p14="http://schemas.microsoft.com/office/powerpoint/2010/main" val="420752431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619250"/>
            <a:ext cx="4762500" cy="46037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>
            <a:spLocks noGrp="1"/>
          </p:cNvSpPr>
          <p:nvPr>
            <p:ph type="body" sz="half" idx="1"/>
          </p:nvPr>
        </p:nvSpPr>
        <p:spPr>
          <a:xfrm>
            <a:off x="844550" y="1619250"/>
            <a:ext cx="5003800" cy="460375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2250"/>
            </a:lvl1pPr>
            <a:lvl2pPr marL="558800" indent="-279400">
              <a:spcBef>
                <a:spcPts val="2250"/>
              </a:spcBef>
              <a:defRPr sz="2250"/>
            </a:lvl2pPr>
            <a:lvl3pPr marL="838200" indent="-279400">
              <a:spcBef>
                <a:spcPts val="2250"/>
              </a:spcBef>
              <a:defRPr sz="2250"/>
            </a:lvl3pPr>
            <a:lvl4pPr marL="1117600" indent="-279400">
              <a:spcBef>
                <a:spcPts val="2250"/>
              </a:spcBef>
              <a:defRPr sz="2250"/>
            </a:lvl4pPr>
            <a:lvl5pPr marL="1397000" indent="-279400">
              <a:spcBef>
                <a:spcPts val="2250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770238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>
            <a:spLocks noGrp="1"/>
          </p:cNvSpPr>
          <p:nvPr>
            <p:ph type="body" idx="1"/>
          </p:nvPr>
        </p:nvSpPr>
        <p:spPr>
          <a:xfrm>
            <a:off x="844550" y="889000"/>
            <a:ext cx="10502900" cy="50736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1379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7880350" y="3524250"/>
            <a:ext cx="3702050" cy="27749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880350" y="565150"/>
            <a:ext cx="3702050" cy="27749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603250" y="565150"/>
            <a:ext cx="7086600" cy="57340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57279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193800" y="2993499"/>
            <a:ext cx="9810750" cy="50270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35821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69917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9" tIns="91439" rIns="91439" bIns="91439"/>
          <a:lstStyle>
            <a:lvl1pPr algn="l" defTabSz="914400"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91439" tIns="91439" rIns="91439" bIns="91439" anchor="t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495300" indent="-2667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marL="777240" indent="-32004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marL="1041400" indent="-355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marL="1270000" indent="-355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>
            <a:spLocks noGrp="1"/>
          </p:cNvSpPr>
          <p:nvPr>
            <p:ph type="sldNum" sz="quarter" idx="2"/>
          </p:nvPr>
        </p:nvSpPr>
        <p:spPr>
          <a:xfrm>
            <a:off x="10986394" y="6354248"/>
            <a:ext cx="367407" cy="36933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66937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>
            <a:spLocks noGrp="1"/>
          </p:cNvSpPr>
          <p:nvPr>
            <p:ph type="title"/>
          </p:nvPr>
        </p:nvSpPr>
        <p:spPr>
          <a:xfrm>
            <a:off x="336550" y="177800"/>
            <a:ext cx="11525250" cy="1016000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2F585F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>
            <a:spLocks noGrp="1"/>
          </p:cNvSpPr>
          <p:nvPr>
            <p:ph type="body" idx="1"/>
          </p:nvPr>
        </p:nvSpPr>
        <p:spPr>
          <a:xfrm>
            <a:off x="336550" y="1270000"/>
            <a:ext cx="11525250" cy="5003800"/>
          </a:xfrm>
          <a:prstGeom prst="rect">
            <a:avLst/>
          </a:prstGeom>
        </p:spPr>
        <p:txBody>
          <a:bodyPr anchor="t"/>
          <a:lstStyle>
            <a:lvl1pPr marL="368300" indent="-368300">
              <a:lnSpc>
                <a:spcPct val="110000"/>
              </a:lnSpc>
              <a:spcBef>
                <a:spcPts val="20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  <a:lvl2pPr marL="736600" indent="-368300">
              <a:lnSpc>
                <a:spcPct val="110000"/>
              </a:lnSpc>
              <a:spcBef>
                <a:spcPts val="200"/>
              </a:spcBef>
              <a:buSzPct val="82000"/>
              <a:defRPr sz="28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2pPr>
            <a:lvl3pPr marL="11049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3pPr>
            <a:lvl4pPr marL="14732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4pPr>
            <a:lvl5pPr marL="18415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>
            <a:spLocks noGrp="1"/>
          </p:cNvSpPr>
          <p:nvPr>
            <p:ph type="sldNum" sz="quarter" idx="2"/>
          </p:nvPr>
        </p:nvSpPr>
        <p:spPr>
          <a:xfrm>
            <a:off x="11652250" y="6540500"/>
            <a:ext cx="290144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859679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&amp; Bullets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>
            <a:spLocks noGrp="1"/>
          </p:cNvSpPr>
          <p:nvPr>
            <p:ph type="title"/>
          </p:nvPr>
        </p:nvSpPr>
        <p:spPr>
          <a:xfrm>
            <a:off x="336550" y="177800"/>
            <a:ext cx="11525250" cy="1016000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2F585F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>
            <a:spLocks noGrp="1"/>
          </p:cNvSpPr>
          <p:nvPr>
            <p:ph type="body" idx="1"/>
          </p:nvPr>
        </p:nvSpPr>
        <p:spPr>
          <a:xfrm>
            <a:off x="336550" y="1270000"/>
            <a:ext cx="11525250" cy="5003800"/>
          </a:xfrm>
          <a:prstGeom prst="rect">
            <a:avLst/>
          </a:prstGeom>
        </p:spPr>
        <p:txBody>
          <a:bodyPr anchor="t"/>
          <a:lstStyle>
            <a:lvl1pPr marL="368300" indent="-368300">
              <a:lnSpc>
                <a:spcPct val="110000"/>
              </a:lnSpc>
              <a:spcBef>
                <a:spcPts val="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  <a:lvl2pPr marL="736600" indent="-368300">
              <a:lnSpc>
                <a:spcPct val="110000"/>
              </a:lnSpc>
              <a:spcBef>
                <a:spcPts val="400"/>
              </a:spcBef>
              <a:buSzPct val="82000"/>
              <a:defRPr sz="28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2pPr>
            <a:lvl3pPr marL="11049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3pPr>
            <a:lvl4pPr marL="14732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4pPr>
            <a:lvl5pPr marL="1841500" indent="-368300">
              <a:lnSpc>
                <a:spcPct val="120000"/>
              </a:lnSpc>
              <a:spcBef>
                <a:spcPts val="3250"/>
              </a:spcBef>
              <a:buSzPct val="82000"/>
              <a:defRPr sz="320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>
            <a:spLocks noGrp="1"/>
          </p:cNvSpPr>
          <p:nvPr>
            <p:ph type="sldNum" sz="quarter" idx="2"/>
          </p:nvPr>
        </p:nvSpPr>
        <p:spPr>
          <a:xfrm>
            <a:off x="11652250" y="6540500"/>
            <a:ext cx="290144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00498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AEEB8-64DE-429E-A172-FEB38F660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1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844550" y="476250"/>
            <a:ext cx="105029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844550" y="1619250"/>
            <a:ext cx="10502900" cy="460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0144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12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3" r:id="rId9"/>
    <p:sldLayoutId id="2147483674" r:id="rId10"/>
    <p:sldLayoutId id="2147483675" r:id="rId11"/>
  </p:sldLayoutIdLst>
  <p:transition spd="med"/>
  <p:hf hdr="0" dt="0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0.png"/><Relationship Id="rId5" Type="http://schemas.openxmlformats.org/officeDocument/2006/relationships/image" Target="../media/image170.png"/><Relationship Id="rId10" Type="http://schemas.openxmlformats.org/officeDocument/2006/relationships/image" Target="../media/image18.png"/><Relationship Id="rId4" Type="http://schemas.openxmlformats.org/officeDocument/2006/relationships/image" Target="../media/image160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40.png"/><Relationship Id="rId3" Type="http://schemas.openxmlformats.org/officeDocument/2006/relationships/image" Target="../media/image19.png"/><Relationship Id="rId7" Type="http://schemas.openxmlformats.org/officeDocument/2006/relationships/image" Target="../media/image100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0.png"/><Relationship Id="rId11" Type="http://schemas.openxmlformats.org/officeDocument/2006/relationships/image" Target="../media/image38.png"/><Relationship Id="rId5" Type="http://schemas.openxmlformats.org/officeDocument/2006/relationships/image" Target="../media/image170.png"/><Relationship Id="rId15" Type="http://schemas.openxmlformats.org/officeDocument/2006/relationships/image" Target="../media/image42.png"/><Relationship Id="rId10" Type="http://schemas.openxmlformats.org/officeDocument/2006/relationships/image" Target="../media/image150.png"/><Relationship Id="rId4" Type="http://schemas.openxmlformats.org/officeDocument/2006/relationships/image" Target="../media/image160.png"/><Relationship Id="rId1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30.png"/><Relationship Id="rId18" Type="http://schemas.openxmlformats.org/officeDocument/2006/relationships/image" Target="../media/image391.png"/><Relationship Id="rId3" Type="http://schemas.openxmlformats.org/officeDocument/2006/relationships/image" Target="../media/image8.emf"/><Relationship Id="rId21" Type="http://schemas.openxmlformats.org/officeDocument/2006/relationships/image" Target="../media/image390.png"/><Relationship Id="rId7" Type="http://schemas.openxmlformats.org/officeDocument/2006/relationships/image" Target="../media/image430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15" Type="http://schemas.openxmlformats.org/officeDocument/2006/relationships/image" Target="../media/image291.png"/><Relationship Id="rId19" Type="http://schemas.openxmlformats.org/officeDocument/2006/relationships/image" Target="../media/image9.emf"/><Relationship Id="rId4" Type="http://schemas.openxmlformats.org/officeDocument/2006/relationships/image" Target="../media/image400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png"/><Relationship Id="rId11" Type="http://schemas.openxmlformats.org/officeDocument/2006/relationships/image" Target="../media/image22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59.png"/><Relationship Id="rId9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23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72.png"/><Relationship Id="rId10" Type="http://schemas.openxmlformats.org/officeDocument/2006/relationships/image" Target="../media/image66.png"/><Relationship Id="rId4" Type="http://schemas.openxmlformats.org/officeDocument/2006/relationships/image" Target="../media/image710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73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9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8.png"/><Relationship Id="rId5" Type="http://schemas.openxmlformats.org/officeDocument/2006/relationships/image" Target="../media/image25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2.png"/><Relationship Id="rId4" Type="http://schemas.openxmlformats.org/officeDocument/2006/relationships/image" Target="../media/image7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940.png"/><Relationship Id="rId3" Type="http://schemas.openxmlformats.org/officeDocument/2006/relationships/image" Target="../media/image79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9" Type="http://schemas.openxmlformats.org/officeDocument/2006/relationships/image" Target="../media/image66.png"/><Relationship Id="rId1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3" Type="http://schemas.openxmlformats.org/officeDocument/2006/relationships/image" Target="../media/image840.png"/><Relationship Id="rId7" Type="http://schemas.openxmlformats.org/officeDocument/2006/relationships/image" Target="../media/image8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50.png"/><Relationship Id="rId5" Type="http://schemas.openxmlformats.org/officeDocument/2006/relationships/image" Target="../media/image860.png"/><Relationship Id="rId10" Type="http://schemas.openxmlformats.org/officeDocument/2006/relationships/image" Target="../media/image900.png"/><Relationship Id="rId4" Type="http://schemas.openxmlformats.org/officeDocument/2006/relationships/image" Target="../media/image850.png"/><Relationship Id="rId9" Type="http://schemas.openxmlformats.org/officeDocument/2006/relationships/image" Target="../media/image8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Data Storage, Scheduling, and Networking in Data Centers"/>
          <p:cNvSpPr>
            <a:spLocks noGrp="1"/>
          </p:cNvSpPr>
          <p:nvPr>
            <p:ph type="ctrTitle"/>
          </p:nvPr>
        </p:nvSpPr>
        <p:spPr>
          <a:xfrm>
            <a:off x="1162237" y="1695999"/>
            <a:ext cx="9867525" cy="1733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sz="4400" dirty="0">
                <a:latin typeface="Helvetica Light" charset="0"/>
                <a:ea typeface="Helvetica Light" charset="0"/>
                <a:cs typeface="Helvetica Light" charset="0"/>
              </a:rPr>
              <a:t>Sharp Waiting-Time Bounds for Multiserver Jobs</a:t>
            </a:r>
            <a:endParaRPr sz="4800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7" name="Body"/>
          <p:cNvSpPr>
            <a:spLocks noGrp="1"/>
          </p:cNvSpPr>
          <p:nvPr>
            <p:ph type="subTitle" sz="quarter" idx="1"/>
          </p:nvPr>
        </p:nvSpPr>
        <p:spPr>
          <a:xfrm>
            <a:off x="889000" y="4181383"/>
            <a:ext cx="10414000" cy="24977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err="1">
                <a:latin typeface="Helvetica Light" charset="0"/>
                <a:ea typeface="Helvetica Light" charset="0"/>
                <a:cs typeface="Helvetica Light" charset="0"/>
              </a:rPr>
              <a:t>Yige</a:t>
            </a:r>
            <a:r>
              <a:rPr lang="en-US" dirty="0">
                <a:latin typeface="Helvetica Light" charset="0"/>
                <a:ea typeface="Helvetica Light" charset="0"/>
                <a:cs typeface="Helvetica Light" charset="0"/>
              </a:rPr>
              <a:t> Hong &amp; </a:t>
            </a:r>
            <a:r>
              <a:rPr lang="en-US" dirty="0" err="1">
                <a:latin typeface="Helvetica Light" charset="0"/>
                <a:ea typeface="Helvetica Light" charset="0"/>
                <a:cs typeface="Helvetica Light" charset="0"/>
              </a:rPr>
              <a:t>Weina</a:t>
            </a:r>
            <a:r>
              <a:rPr lang="en-US" dirty="0">
                <a:latin typeface="Helvetica Light" charset="0"/>
                <a:ea typeface="Helvetica Light" charset="0"/>
                <a:cs typeface="Helvetica Light" charset="0"/>
              </a:rPr>
              <a:t> Wang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Helvetica Light" charset="0"/>
                <a:ea typeface="Helvetica Light" charset="0"/>
                <a:cs typeface="Helvetica Light" charset="0"/>
              </a:rPr>
              <a:t>Carnegie Mellon University</a:t>
            </a:r>
          </a:p>
          <a:p>
            <a:r>
              <a:rPr lang="en-US" sz="2000" dirty="0" err="1">
                <a:latin typeface="Helvetica Light" charset="0"/>
                <a:ea typeface="Helvetica Light" charset="0"/>
                <a:cs typeface="Helvetica Light" charset="0"/>
              </a:rPr>
              <a:t>Mobihoc</a:t>
            </a:r>
            <a:r>
              <a:rPr lang="en-US" sz="2000" dirty="0">
                <a:latin typeface="Helvetica Light" charset="0"/>
                <a:ea typeface="Helvetica Light" charset="0"/>
                <a:cs typeface="Helvetica Light" charset="0"/>
              </a:rPr>
              <a:t> 2022</a:t>
            </a:r>
          </a:p>
        </p:txBody>
      </p:sp>
    </p:spTree>
    <p:extLst>
      <p:ext uri="{BB962C8B-B14F-4D97-AF65-F5344CB8AC3E}">
        <p14:creationId xmlns:p14="http://schemas.microsoft.com/office/powerpoint/2010/main" val="349627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81C5-34CB-E643-BF8B-8EEEB24D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and queueing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E190C-C93D-1747-9FB6-751D5F6F8EE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</a:t>
            </a:fld>
            <a:endParaRPr lang="uk-UA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32ACF0-9A06-BF49-8932-B4A2074C7438}"/>
              </a:ext>
            </a:extLst>
          </p:cNvPr>
          <p:cNvSpPr>
            <a:spLocks noChangeAspect="1"/>
          </p:cNvSpPr>
          <p:nvPr/>
        </p:nvSpPr>
        <p:spPr>
          <a:xfrm>
            <a:off x="10876136" y="2410879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C573CB-D4B4-E24C-9F83-54F01AA9ED88}"/>
              </a:ext>
            </a:extLst>
          </p:cNvPr>
          <p:cNvSpPr>
            <a:spLocks noChangeAspect="1"/>
          </p:cNvSpPr>
          <p:nvPr/>
        </p:nvSpPr>
        <p:spPr>
          <a:xfrm>
            <a:off x="10876136" y="292033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438445-102C-1345-AF13-C8E94609FAC1}"/>
              </a:ext>
            </a:extLst>
          </p:cNvPr>
          <p:cNvSpPr>
            <a:spLocks noChangeAspect="1"/>
          </p:cNvSpPr>
          <p:nvPr/>
        </p:nvSpPr>
        <p:spPr>
          <a:xfrm>
            <a:off x="10876136" y="3429781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E8C2AD-D880-4B44-AC8A-93C14784F281}"/>
              </a:ext>
            </a:extLst>
          </p:cNvPr>
          <p:cNvSpPr>
            <a:spLocks noChangeAspect="1"/>
          </p:cNvSpPr>
          <p:nvPr/>
        </p:nvSpPr>
        <p:spPr>
          <a:xfrm>
            <a:off x="10876136" y="3939232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82EA8E-1B29-134E-A1C8-E05BEC2EAEB6}"/>
              </a:ext>
            </a:extLst>
          </p:cNvPr>
          <p:cNvSpPr>
            <a:spLocks noChangeAspect="1"/>
          </p:cNvSpPr>
          <p:nvPr/>
        </p:nvSpPr>
        <p:spPr>
          <a:xfrm>
            <a:off x="10876136" y="5467588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63C07B5-D269-9C41-9F76-6BA469DDF5B8}"/>
              </a:ext>
            </a:extLst>
          </p:cNvPr>
          <p:cNvSpPr>
            <a:spLocks noChangeAspect="1"/>
          </p:cNvSpPr>
          <p:nvPr/>
        </p:nvSpPr>
        <p:spPr>
          <a:xfrm>
            <a:off x="10871131" y="1879505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25A16CD-E37F-C444-BE8E-78C374877D5A}"/>
              </a:ext>
            </a:extLst>
          </p:cNvPr>
          <p:cNvGrpSpPr/>
          <p:nvPr/>
        </p:nvGrpSpPr>
        <p:grpSpPr>
          <a:xfrm>
            <a:off x="6734131" y="2062385"/>
            <a:ext cx="4142005" cy="3588083"/>
            <a:chOff x="3767411" y="2388956"/>
            <a:chExt cx="4142005" cy="358808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C5D5691-7A59-7A42-BB56-753C196890AC}"/>
                </a:ext>
              </a:extLst>
            </p:cNvPr>
            <p:cNvCxnSpPr>
              <a:cxnSpLocks/>
            </p:cNvCxnSpPr>
            <p:nvPr/>
          </p:nvCxnSpPr>
          <p:spPr>
            <a:xfrm>
              <a:off x="4281667" y="4250187"/>
              <a:ext cx="3627749" cy="121739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55558CF-CDCF-1340-80A3-B31D3346BD76}"/>
                </a:ext>
              </a:extLst>
            </p:cNvPr>
            <p:cNvCxnSpPr>
              <a:cxnSpLocks/>
            </p:cNvCxnSpPr>
            <p:nvPr/>
          </p:nvCxnSpPr>
          <p:spPr>
            <a:xfrm>
              <a:off x="4281667" y="4257995"/>
              <a:ext cx="3627749" cy="70014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119B798-337F-0141-A8F5-9832C2A7DB5B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4295337" y="4265803"/>
              <a:ext cx="3614079" cy="18288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CF52C0D-B9D6-0D48-AF37-613A61FAD8FB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4273068" y="3939232"/>
              <a:ext cx="3636348" cy="31119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259CD63-A1B6-1047-8890-22EED70CAD1E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V="1">
              <a:off x="4295337" y="3429781"/>
              <a:ext cx="3614079" cy="82821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A043EB9-7DCF-9C48-BD06-3FE16143C1CB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4273067" y="2920330"/>
              <a:ext cx="3636349" cy="133766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82B7D72-F759-1C4F-B5E4-16F9E960D2B1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4264471" y="4250422"/>
              <a:ext cx="3644945" cy="17266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41A2439-F392-684F-8702-47D291A3A40E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4281667" y="2388956"/>
              <a:ext cx="3622744" cy="1861466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986A2DC-09A2-3249-8F4E-A149BE5CE1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A660D66-27D1-AF4D-97B3-FD731A86BCED}"/>
              </a:ext>
            </a:extLst>
          </p:cNvPr>
          <p:cNvGrpSpPr/>
          <p:nvPr/>
        </p:nvGrpSpPr>
        <p:grpSpPr>
          <a:xfrm>
            <a:off x="4866018" y="1858219"/>
            <a:ext cx="6370873" cy="2536133"/>
            <a:chOff x="2374001" y="435795"/>
            <a:chExt cx="6370873" cy="2487601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592ADF4-43D6-4F44-9B31-D98395423BF1}"/>
                </a:ext>
              </a:extLst>
            </p:cNvPr>
            <p:cNvCxnSpPr>
              <a:cxnSpLocks/>
            </p:cNvCxnSpPr>
            <p:nvPr/>
          </p:nvCxnSpPr>
          <p:spPr>
            <a:xfrm>
              <a:off x="3277645" y="1912097"/>
              <a:ext cx="1375939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9BD4B7D-DD52-1348-BD5F-E556F2A16FAF}"/>
                </a:ext>
              </a:extLst>
            </p:cNvPr>
            <p:cNvCxnSpPr>
              <a:cxnSpLocks/>
            </p:cNvCxnSpPr>
            <p:nvPr/>
          </p:nvCxnSpPr>
          <p:spPr>
            <a:xfrm>
              <a:off x="3277645" y="2903553"/>
              <a:ext cx="1373691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E79ED13-DA65-7E4D-A030-C5352C3B52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4986" y="1902095"/>
              <a:ext cx="0" cy="100584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80659ED-FBD1-1441-AB12-A21A255DE3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1091" y="1917556"/>
              <a:ext cx="0" cy="10058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0D9B84F-02A9-3442-A298-8DCED5419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72101" y="435795"/>
              <a:ext cx="372773" cy="372773"/>
            </a:xfrm>
            <a:prstGeom prst="ellipse">
              <a:avLst/>
            </a:prstGeom>
            <a:pattFill prst="openDmnd">
              <a:fgClr>
                <a:schemeClr val="tx1">
                  <a:lumMod val="65000"/>
                  <a:lumOff val="35000"/>
                </a:schemeClr>
              </a:fgClr>
              <a:bgClr>
                <a:schemeClr val="accent1">
                  <a:lumMod val="40000"/>
                  <a:lumOff val="6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6032718-7CE3-3B49-9347-C7D670B0B8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7645" y="1897714"/>
              <a:ext cx="0" cy="10058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8E037EE-8012-414E-BEAF-C5BD43054A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233" y="1917556"/>
              <a:ext cx="0" cy="10058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0542807C-9473-EB49-AD7F-42DCED5FFFBF}"/>
                </a:ext>
              </a:extLst>
            </p:cNvPr>
            <p:cNvSpPr/>
            <p:nvPr/>
          </p:nvSpPr>
          <p:spPr>
            <a:xfrm>
              <a:off x="2374001" y="2063145"/>
              <a:ext cx="698269" cy="623054"/>
            </a:xfrm>
            <a:prstGeom prst="rightArrow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DCCD240C-F820-3B4D-B9FB-3C87A6953956}"/>
              </a:ext>
            </a:extLst>
          </p:cNvPr>
          <p:cNvSpPr>
            <a:spLocks noChangeAspect="1"/>
          </p:cNvSpPr>
          <p:nvPr/>
        </p:nvSpPr>
        <p:spPr>
          <a:xfrm>
            <a:off x="10876136" y="4448683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762BD20-9F0C-3F41-920F-0903CAF3D4EC}"/>
              </a:ext>
            </a:extLst>
          </p:cNvPr>
          <p:cNvSpPr>
            <a:spLocks noChangeAspect="1"/>
          </p:cNvSpPr>
          <p:nvPr/>
        </p:nvSpPr>
        <p:spPr>
          <a:xfrm>
            <a:off x="10876136" y="4958134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70" name="Picture 69" descr="A picture containing text&#10;&#10;Description automatically generated">
            <a:extLst>
              <a:ext uri="{FF2B5EF4-FFF2-40B4-BE49-F238E27FC236}">
                <a16:creationId xmlns:a16="http://schemas.microsoft.com/office/drawing/2014/main" id="{2FDF391C-55DC-9C4C-9509-3D5352A89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9" y="2844213"/>
            <a:ext cx="3287363" cy="1846402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67AA340C-C287-5341-BB36-A6CE3FB95B49}"/>
              </a:ext>
            </a:extLst>
          </p:cNvPr>
          <p:cNvSpPr txBox="1"/>
          <p:nvPr/>
        </p:nvSpPr>
        <p:spPr>
          <a:xfrm>
            <a:off x="7179863" y="2479861"/>
            <a:ext cx="102657" cy="8720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53CBBE7-469A-3C4A-A80F-C714E469A2DD}"/>
              </a:ext>
            </a:extLst>
          </p:cNvPr>
          <p:cNvSpPr>
            <a:spLocks noChangeAspect="1"/>
          </p:cNvSpPr>
          <p:nvPr/>
        </p:nvSpPr>
        <p:spPr>
          <a:xfrm>
            <a:off x="4215053" y="3612661"/>
            <a:ext cx="372773" cy="380046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6492430-CDD0-AA41-A2BE-644CF25DA430}"/>
              </a:ext>
            </a:extLst>
          </p:cNvPr>
          <p:cNvSpPr>
            <a:spLocks noChangeAspect="1"/>
          </p:cNvSpPr>
          <p:nvPr/>
        </p:nvSpPr>
        <p:spPr>
          <a:xfrm>
            <a:off x="6687311" y="3654908"/>
            <a:ext cx="372773" cy="380046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6651405-B6D1-E34D-96D8-CDFC62AFBF3D}"/>
              </a:ext>
            </a:extLst>
          </p:cNvPr>
          <p:cNvSpPr>
            <a:spLocks noChangeAspect="1"/>
          </p:cNvSpPr>
          <p:nvPr/>
        </p:nvSpPr>
        <p:spPr>
          <a:xfrm>
            <a:off x="10872629" y="2403070"/>
            <a:ext cx="372773" cy="380046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668129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092 L 0.16614 0.00671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94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03577E-17 L 0.34336 -0.10996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05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68" grpId="0" animBg="1"/>
      <p:bldP spid="69" grpId="0" animBg="1"/>
      <p:bldP spid="71" grpId="0" animBg="1"/>
      <p:bldP spid="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ECC1131-3780-4541-8A31-8AF21C18F97F}"/>
              </a:ext>
            </a:extLst>
          </p:cNvPr>
          <p:cNvGrpSpPr/>
          <p:nvPr/>
        </p:nvGrpSpPr>
        <p:grpSpPr>
          <a:xfrm>
            <a:off x="4412639" y="3159582"/>
            <a:ext cx="566928" cy="457200"/>
            <a:chOff x="2403047" y="4100494"/>
            <a:chExt cx="566928" cy="4572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9C1E06-CE44-BE40-9EE5-DDBA42D5FA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3631" y="4146214"/>
              <a:ext cx="365760" cy="365760"/>
            </a:xfrm>
            <a:prstGeom prst="ellipse">
              <a:avLst/>
            </a:prstGeom>
            <a:pattFill prst="openDmnd">
              <a:fgClr>
                <a:schemeClr val="tx1">
                  <a:lumMod val="65000"/>
                  <a:lumOff val="35000"/>
                </a:schemeClr>
              </a:fgClr>
              <a:bgClr>
                <a:schemeClr val="accent1">
                  <a:lumMod val="40000"/>
                  <a:lumOff val="6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3C9E4D5-9692-0245-847B-27413EBE7856}"/>
                </a:ext>
              </a:extLst>
            </p:cNvPr>
            <p:cNvSpPr/>
            <p:nvPr/>
          </p:nvSpPr>
          <p:spPr>
            <a:xfrm>
              <a:off x="2403047" y="4100494"/>
              <a:ext cx="566928" cy="457200"/>
            </a:xfrm>
            <a:prstGeom prst="round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C1E968-4C10-3F41-87A5-E6D18F5A2296}"/>
              </a:ext>
            </a:extLst>
          </p:cNvPr>
          <p:cNvGrpSpPr/>
          <p:nvPr/>
        </p:nvGrpSpPr>
        <p:grpSpPr>
          <a:xfrm>
            <a:off x="4416958" y="2137144"/>
            <a:ext cx="563105" cy="2009553"/>
            <a:chOff x="5086807" y="2142460"/>
            <a:chExt cx="563105" cy="2009553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01FDFE1-1DA9-5548-A595-03424D94D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5480" y="2703576"/>
              <a:ext cx="365760" cy="36576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2407BA0-5B8C-AC4C-BA65-4998A34D59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5480" y="2194560"/>
              <a:ext cx="365760" cy="36576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29A71E1-2F6E-3C49-8869-FEF29C08BF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5480" y="3212592"/>
              <a:ext cx="365760" cy="36576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B4DA305-2F53-3F4E-BC9D-62FBDB5FFF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5480" y="3721608"/>
              <a:ext cx="365760" cy="36576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836EF8E-DF36-5541-84E0-0B34A21A56D2}"/>
                </a:ext>
              </a:extLst>
            </p:cNvPr>
            <p:cNvSpPr/>
            <p:nvPr/>
          </p:nvSpPr>
          <p:spPr>
            <a:xfrm>
              <a:off x="5086807" y="2142460"/>
              <a:ext cx="563105" cy="2009553"/>
            </a:xfrm>
            <a:prstGeom prst="round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C3CC31-CDE2-654C-B753-F480C04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multiserver job?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5ED21-EE90-A342-988A-68F9014CDC7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2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C4FE7-F2FB-404F-B10B-5F48B88DF077}"/>
              </a:ext>
            </a:extLst>
          </p:cNvPr>
          <p:cNvSpPr txBox="1"/>
          <p:nvPr/>
        </p:nvSpPr>
        <p:spPr>
          <a:xfrm>
            <a:off x="3689417" y="3620137"/>
            <a:ext cx="201337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single-server job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B4C6D8-B772-1A42-B7D6-C6935D1844BE}"/>
              </a:ext>
            </a:extLst>
          </p:cNvPr>
          <p:cNvSpPr txBox="1"/>
          <p:nvPr/>
        </p:nvSpPr>
        <p:spPr>
          <a:xfrm>
            <a:off x="3763960" y="4149758"/>
            <a:ext cx="186910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sym typeface="Helvetica Light"/>
              </a:rPr>
              <a:t>m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ulti-server job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7618DC-7139-DA4B-885A-9328300C681A}"/>
              </a:ext>
            </a:extLst>
          </p:cNvPr>
          <p:cNvGrpSpPr/>
          <p:nvPr/>
        </p:nvGrpSpPr>
        <p:grpSpPr>
          <a:xfrm>
            <a:off x="8239605" y="1686153"/>
            <a:ext cx="942566" cy="4485986"/>
            <a:chOff x="8239605" y="1686153"/>
            <a:chExt cx="942566" cy="44859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E314F8-8A2A-4C43-9A4C-3F96D0FE6A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2195607"/>
              <a:ext cx="365760" cy="365760"/>
            </a:xfrm>
            <a:prstGeom prst="ellipse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47BDC11-E413-3444-8F61-433FE5B147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2705058"/>
              <a:ext cx="365760" cy="365760"/>
            </a:xfrm>
            <a:prstGeom prst="ellipse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8750D45-C65B-E348-873A-8327D22DE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3214509"/>
              <a:ext cx="365760" cy="365760"/>
            </a:xfrm>
            <a:prstGeom prst="ellipse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A12E07-D374-EB4F-97F1-00E674817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3723960"/>
              <a:ext cx="365760" cy="365760"/>
            </a:xfrm>
            <a:prstGeom prst="ellipse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864383-518B-AD40-9E95-2C8C8256B1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4233411"/>
              <a:ext cx="365760" cy="365760"/>
            </a:xfrm>
            <a:prstGeom prst="ellipse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09521C7-C5A3-314E-9F4D-723D9DBB4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4742862"/>
              <a:ext cx="365760" cy="365760"/>
            </a:xfrm>
            <a:prstGeom prst="ellipse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33476B-BC51-5442-AC18-8E289B2749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5252316"/>
              <a:ext cx="365760" cy="365760"/>
            </a:xfrm>
            <a:prstGeom prst="ellipse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DA54E-FFC7-9242-9164-CD29422EA6C1}"/>
                </a:ext>
              </a:extLst>
            </p:cNvPr>
            <p:cNvSpPr txBox="1"/>
            <p:nvPr/>
          </p:nvSpPr>
          <p:spPr>
            <a:xfrm>
              <a:off x="8239605" y="5761770"/>
              <a:ext cx="942566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servers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8762AAD-62D9-3242-8250-1405C85F4E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8008" y="1686153"/>
              <a:ext cx="365760" cy="365760"/>
            </a:xfrm>
            <a:prstGeom prst="ellipse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928DDE20-E33C-834D-A0B5-7B223F420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581" y="2659321"/>
            <a:ext cx="1631848" cy="1631848"/>
          </a:xfrm>
          <a:prstGeom prst="rect">
            <a:avLst/>
          </a:prstGeom>
        </p:spPr>
      </p:pic>
      <p:sp>
        <p:nvSpPr>
          <p:cNvPr id="38" name="Right Brace 37">
            <a:extLst>
              <a:ext uri="{FF2B5EF4-FFF2-40B4-BE49-F238E27FC236}">
                <a16:creationId xmlns:a16="http://schemas.microsoft.com/office/drawing/2014/main" id="{68DE9753-45AE-144A-8C6A-F41414F7A81D}"/>
              </a:ext>
            </a:extLst>
          </p:cNvPr>
          <p:cNvSpPr/>
          <p:nvPr/>
        </p:nvSpPr>
        <p:spPr>
          <a:xfrm rot="10800000">
            <a:off x="4195866" y="2137144"/>
            <a:ext cx="241016" cy="2009553"/>
          </a:xfrm>
          <a:prstGeom prst="rightBrace">
            <a:avLst>
              <a:gd name="adj1" fmla="val 37200"/>
              <a:gd name="adj2" fmla="val 50000"/>
            </a:avLst>
          </a:prstGeom>
          <a:noFill/>
          <a:ln w="190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E51792-8EE5-7947-A313-50FD0937C4B9}"/>
              </a:ext>
            </a:extLst>
          </p:cNvPr>
          <p:cNvSpPr txBox="1"/>
          <p:nvPr/>
        </p:nvSpPr>
        <p:spPr>
          <a:xfrm>
            <a:off x="6020024" y="2936735"/>
            <a:ext cx="212237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C00000"/>
                </a:solidFill>
                <a:sym typeface="Helvetica Light"/>
              </a:rPr>
              <a:t>“server need = 4”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E0F47D-705E-F646-A929-446D97D8D332}"/>
              </a:ext>
            </a:extLst>
          </p:cNvPr>
          <p:cNvSpPr txBox="1"/>
          <p:nvPr/>
        </p:nvSpPr>
        <p:spPr>
          <a:xfrm>
            <a:off x="1909303" y="2786853"/>
            <a:ext cx="2287383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requires 4 servers to run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8D76476-900C-A64B-B9C4-8A1D86C69CE9}"/>
              </a:ext>
            </a:extLst>
          </p:cNvPr>
          <p:cNvGrpSpPr/>
          <p:nvPr/>
        </p:nvGrpSpPr>
        <p:grpSpPr>
          <a:xfrm>
            <a:off x="8400790" y="2174649"/>
            <a:ext cx="620195" cy="2125853"/>
            <a:chOff x="5060582" y="2322932"/>
            <a:chExt cx="620195" cy="212585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A76B88F-9C27-AA88-7B47-33F74C3F6DF5}"/>
                </a:ext>
              </a:extLst>
            </p:cNvPr>
            <p:cNvSpPr txBox="1"/>
            <p:nvPr/>
          </p:nvSpPr>
          <p:spPr>
            <a:xfrm>
              <a:off x="5060582" y="2322932"/>
              <a:ext cx="615553" cy="718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👩🏻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D0269CE-E478-4B57-6641-4ECCF1344219}"/>
                </a:ext>
              </a:extLst>
            </p:cNvPr>
            <p:cNvSpPr txBox="1"/>
            <p:nvPr/>
          </p:nvSpPr>
          <p:spPr>
            <a:xfrm>
              <a:off x="5065224" y="3730640"/>
              <a:ext cx="615553" cy="718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👨🏻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E5BF505-71F0-7C9F-6134-BB35EE5B09A6}"/>
                </a:ext>
              </a:extLst>
            </p:cNvPr>
            <p:cNvSpPr txBox="1"/>
            <p:nvPr/>
          </p:nvSpPr>
          <p:spPr>
            <a:xfrm>
              <a:off x="5060582" y="2811376"/>
              <a:ext cx="615553" cy="718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👧🏻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4EE7ADC-42E7-9C26-4EFB-3A5FC91AE0BA}"/>
                </a:ext>
              </a:extLst>
            </p:cNvPr>
            <p:cNvSpPr txBox="1"/>
            <p:nvPr/>
          </p:nvSpPr>
          <p:spPr>
            <a:xfrm>
              <a:off x="5061160" y="3274766"/>
              <a:ext cx="615553" cy="718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1703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48148E-6 L 0.32903 -0.2219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45" y="-11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0.3289 0.0009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45" y="4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7" grpId="0"/>
      <p:bldP spid="47" grpId="1"/>
      <p:bldP spid="38" grpId="0" animBg="1"/>
      <p:bldP spid="38" grpId="1" animBg="1"/>
      <p:bldP spid="48" grpId="0"/>
      <p:bldP spid="39" grpId="0"/>
      <p:bldP spid="3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EAFC-4BB1-1F41-8431-83E5F7EC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multiserver jobs?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421EC-01AD-9C4E-8575-9AD69ADB8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643360" cy="5106838"/>
          </a:xfrm>
        </p:spPr>
        <p:txBody>
          <a:bodyPr/>
          <a:lstStyle/>
          <a:p>
            <a:r>
              <a:rPr lang="en-US" dirty="0"/>
              <a:t>Modern cloud clusters run workloads as containers (lightweight Virtual Machines)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588B4-9647-C544-96F7-56AE0EACC4C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3</a:t>
            </a:fld>
            <a:endParaRPr lang="uk-UA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78EB2AAE-317E-E44E-A467-975E4F648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520" y="1959577"/>
            <a:ext cx="3287363" cy="1846402"/>
          </a:xfrm>
          <a:prstGeom prst="rect">
            <a:avLst/>
          </a:prstGeom>
        </p:spPr>
      </p:pic>
      <p:pic>
        <p:nvPicPr>
          <p:cNvPr id="8" name="Picture 7" descr="A picture containing text, tableware, dishware&#10;&#10;Description automatically generated">
            <a:extLst>
              <a:ext uri="{FF2B5EF4-FFF2-40B4-BE49-F238E27FC236}">
                <a16:creationId xmlns:a16="http://schemas.microsoft.com/office/drawing/2014/main" id="{C65835EB-BD91-E947-B953-835AB6CD0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533" y="3713411"/>
            <a:ext cx="1207708" cy="722612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A903379-B17B-B24A-ACB8-D811C65B9C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41" b="39433"/>
          <a:stretch/>
        </p:blipFill>
        <p:spPr>
          <a:xfrm>
            <a:off x="3392900" y="4092337"/>
            <a:ext cx="4880520" cy="687372"/>
          </a:xfrm>
          <a:prstGeom prst="rect">
            <a:avLst/>
          </a:prstGeom>
        </p:spPr>
      </p:pic>
      <p:pic>
        <p:nvPicPr>
          <p:cNvPr id="12" name="Picture 11" descr="A picture containing logo&#10;&#10;Description automatically generated">
            <a:extLst>
              <a:ext uri="{FF2B5EF4-FFF2-40B4-BE49-F238E27FC236}">
                <a16:creationId xmlns:a16="http://schemas.microsoft.com/office/drawing/2014/main" id="{5C1414EE-A23C-4841-A0F8-1225ACFC8E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353" y="2510197"/>
            <a:ext cx="2390861" cy="687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CA214D-7BF1-A54F-BDDE-64D111067FD0}"/>
              </a:ext>
            </a:extLst>
          </p:cNvPr>
          <p:cNvSpPr txBox="1"/>
          <p:nvPr/>
        </p:nvSpPr>
        <p:spPr>
          <a:xfrm>
            <a:off x="1036204" y="2283700"/>
            <a:ext cx="3414689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sym typeface="Helvetica Light"/>
              </a:rPr>
              <a:t>container requires certain resources to run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multiserver job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4950350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 t="-606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394550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2904001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413452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3922903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432354"/>
            <a:ext cx="365760" cy="365760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4941805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451259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5183DD3-B0E7-4344-BADE-58A787DF4C30}"/>
              </a:ext>
            </a:extLst>
          </p:cNvPr>
          <p:cNvSpPr/>
          <p:nvPr/>
        </p:nvSpPr>
        <p:spPr>
          <a:xfrm>
            <a:off x="7810743" y="1805356"/>
            <a:ext cx="563105" cy="2519064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469FBE2-B660-8E4E-A5BD-A48887C0D30E}"/>
              </a:ext>
            </a:extLst>
          </p:cNvPr>
          <p:cNvSpPr/>
          <p:nvPr/>
        </p:nvSpPr>
        <p:spPr>
          <a:xfrm>
            <a:off x="7810742" y="4382673"/>
            <a:ext cx="563105" cy="478618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B8D468-F63D-A145-9D6B-C675CDF73452}"/>
              </a:ext>
            </a:extLst>
          </p:cNvPr>
          <p:cNvGrpSpPr/>
          <p:nvPr/>
        </p:nvGrpSpPr>
        <p:grpSpPr>
          <a:xfrm>
            <a:off x="8411764" y="1863176"/>
            <a:ext cx="1490222" cy="3953842"/>
            <a:chOff x="8411764" y="2206076"/>
            <a:chExt cx="1490222" cy="3953842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690FC76-217B-034D-9D10-738D28776815}"/>
                </a:ext>
              </a:extLst>
            </p:cNvPr>
            <p:cNvSpPr/>
            <p:nvPr/>
          </p:nvSpPr>
          <p:spPr>
            <a:xfrm>
              <a:off x="8411764" y="2206076"/>
              <a:ext cx="241016" cy="3953842"/>
            </a:xfrm>
            <a:prstGeom prst="rightBrace">
              <a:avLst>
                <a:gd name="adj1" fmla="val 37200"/>
                <a:gd name="adj2" fmla="val 50000"/>
              </a:avLst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/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𝑛</m:t>
                      </m:r>
                    </m:oMath>
                  </a14:m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 servers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blipFill>
                  <a:blip r:embed="rId4"/>
                  <a:stretch>
                    <a:fillRect t="-3030" r="-8602" b="-2727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B90E98E-E1A6-C04B-9F66-241917C6FAA9}"/>
              </a:ext>
            </a:extLst>
          </p:cNvPr>
          <p:cNvSpPr txBox="1"/>
          <p:nvPr/>
        </p:nvSpPr>
        <p:spPr>
          <a:xfrm>
            <a:off x="582962" y="4288663"/>
            <a:ext cx="108460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rgbClr val="000000"/>
                </a:solidFill>
                <a:sym typeface="Helvetica Light"/>
              </a:rPr>
              <a:t>K</a:t>
            </a:r>
            <a:r>
              <a:rPr lang="en-US" sz="2000" dirty="0">
                <a:solidFill>
                  <a:srgbClr val="000000"/>
                </a:solidFill>
                <a:sym typeface="Helvetica Light"/>
              </a:rPr>
              <a:t> jobs classes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815294" y="6509187"/>
            <a:ext cx="376706" cy="348813"/>
          </a:xfrm>
        </p:spPr>
        <p:txBody>
          <a:bodyPr/>
          <a:lstStyle/>
          <a:p>
            <a:fld id="{86CB4B4D-7CA3-9044-876B-883B54F8677D}" type="slidenum">
              <a:rPr lang="uk-UA" smtClean="0"/>
              <a:pPr/>
              <a:t>4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/>
              <p:nvPr/>
            </p:nvSpPr>
            <p:spPr>
              <a:xfrm>
                <a:off x="8411764" y="1206721"/>
                <a:ext cx="243278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hold for </a:t>
                </a:r>
                <a:r>
                  <a:rPr lang="en-US" sz="20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 time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764" y="1206721"/>
                <a:ext cx="2432782" cy="410369"/>
              </a:xfrm>
              <a:prstGeom prst="rect">
                <a:avLst/>
              </a:prstGeom>
              <a:blipFill>
                <a:blip r:embed="rId5"/>
                <a:stretch>
                  <a:fillRect l="-3109" r="-3627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EB5D078-97B0-C94A-A716-B6BF97F6311E}"/>
              </a:ext>
            </a:extLst>
          </p:cNvPr>
          <p:cNvCxnSpPr>
            <a:cxnSpLocks/>
            <a:stCxn id="38" idx="0"/>
            <a:endCxn id="55" idx="1"/>
          </p:cNvCxnSpPr>
          <p:nvPr/>
        </p:nvCxnSpPr>
        <p:spPr>
          <a:xfrm flipV="1">
            <a:off x="8092296" y="1411906"/>
            <a:ext cx="319468" cy="39345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/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server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blipFill>
                <a:blip r:embed="rId6"/>
                <a:stretch>
                  <a:fillRect t="-3030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412911-0C1E-9E49-A3C2-4606E23E2B30}"/>
              </a:ext>
            </a:extLst>
          </p:cNvPr>
          <p:cNvCxnSpPr>
            <a:cxnSpLocks/>
            <a:endCxn id="52" idx="4"/>
          </p:cNvCxnSpPr>
          <p:nvPr/>
        </p:nvCxnSpPr>
        <p:spPr>
          <a:xfrm flipH="1" flipV="1">
            <a:off x="3053378" y="5058101"/>
            <a:ext cx="83951" cy="33615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/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91440" rIns="91440" bIns="91440" numCol="1" spcCol="38100" rtlCol="0" anchor="t">
                <a:noAutofit/>
              </a:bodyPr>
              <a:lstStyle/>
              <a:p>
                <a:pPr marL="0" marR="0" indent="0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Class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:</a:t>
                </a: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/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Poisson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blipFill>
                <a:blip r:embed="rId8"/>
                <a:stretch>
                  <a:fillRect t="-1724" b="-1379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CB9C0-98B9-0448-AE67-8C6FE9B79C3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1911903" y="4928246"/>
            <a:ext cx="137243" cy="2669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1863176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E89A02-1C83-6744-B5C9-1EF2FBA2FC79}"/>
              </a:ext>
            </a:extLst>
          </p:cNvPr>
          <p:cNvGrpSpPr/>
          <p:nvPr/>
        </p:nvGrpSpPr>
        <p:grpSpPr>
          <a:xfrm>
            <a:off x="8422425" y="4964370"/>
            <a:ext cx="2976427" cy="857150"/>
            <a:chOff x="8422425" y="5307270"/>
            <a:chExt cx="2976427" cy="857150"/>
          </a:xfrm>
        </p:grpSpPr>
        <p:sp>
          <p:nvSpPr>
            <p:cNvPr id="67" name="Right Brace 66">
              <a:extLst>
                <a:ext uri="{FF2B5EF4-FFF2-40B4-BE49-F238E27FC236}">
                  <a16:creationId xmlns:a16="http://schemas.microsoft.com/office/drawing/2014/main" id="{0B50975C-38C0-1E4E-BB0D-BEDB884FBEB1}"/>
                </a:ext>
              </a:extLst>
            </p:cNvPr>
            <p:cNvSpPr/>
            <p:nvPr/>
          </p:nvSpPr>
          <p:spPr>
            <a:xfrm>
              <a:off x="8422425" y="5307270"/>
              <a:ext cx="241016" cy="857150"/>
            </a:xfrm>
            <a:prstGeom prst="rightBrace">
              <a:avLst>
                <a:gd name="adj1" fmla="val 37200"/>
                <a:gd name="adj2" fmla="val 50000"/>
              </a:avLst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116AC0A-3E9E-374C-B4C0-30EEA94643B5}"/>
                </a:ext>
              </a:extLst>
            </p:cNvPr>
            <p:cNvSpPr txBox="1"/>
            <p:nvPr/>
          </p:nvSpPr>
          <p:spPr>
            <a:xfrm>
              <a:off x="8740076" y="5376772"/>
              <a:ext cx="2658776" cy="718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Servers idle when next job does not fit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/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91440" tIns="91440" rIns="182880" bIns="91440" numCol="1" spcCol="38100" rtlCol="0" anchor="t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ℓ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046056"/>
            <a:ext cx="4142005" cy="3588083"/>
            <a:chOff x="3767411" y="20460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1509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615234"/>
              <a:ext cx="3636347" cy="3585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105783"/>
              <a:ext cx="3636347" cy="8679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596332"/>
              <a:ext cx="3636347" cy="13774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086881"/>
              <a:ext cx="3636347" cy="18868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577430"/>
              <a:ext cx="3636347" cy="23963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6603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046056"/>
              <a:ext cx="3631342" cy="29276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D9AB8A8-A54B-0C48-B78F-B57DA74EB78A}"/>
              </a:ext>
            </a:extLst>
          </p:cNvPr>
          <p:cNvSpPr txBox="1"/>
          <p:nvPr/>
        </p:nvSpPr>
        <p:spPr>
          <a:xfrm>
            <a:off x="5518765" y="4249353"/>
            <a:ext cx="1710402" cy="3021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e.g., FCFS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sym typeface="Helvetica Light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144FF5-9C75-4848-9490-AACB60AA856F}"/>
              </a:ext>
            </a:extLst>
          </p:cNvPr>
          <p:cNvSpPr txBox="1"/>
          <p:nvPr/>
        </p:nvSpPr>
        <p:spPr>
          <a:xfrm>
            <a:off x="5102379" y="4121397"/>
            <a:ext cx="468832" cy="658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18288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❓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A331B2-0ADD-400B-EC2C-7566C3D87BBE}"/>
              </a:ext>
            </a:extLst>
          </p:cNvPr>
          <p:cNvGrpSpPr/>
          <p:nvPr/>
        </p:nvGrpSpPr>
        <p:grpSpPr>
          <a:xfrm>
            <a:off x="1900480" y="4141118"/>
            <a:ext cx="2372589" cy="1010699"/>
            <a:chOff x="1900480" y="4484018"/>
            <a:chExt cx="2372589" cy="101069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7467E-15C0-EB47-8E6D-9E5875F6C250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10A66D-37D0-7F4D-8133-2CA6B08A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48980C7-3134-F042-8A57-056070DCF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A289EEF-14D0-204C-914D-535ABD251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56A27AA-5EE5-244A-A7B0-CD3677AF43F8}"/>
                  </a:ext>
                </a:extLst>
              </p:cNvPr>
              <p:cNvGrpSpPr/>
              <p:nvPr/>
            </p:nvGrpSpPr>
            <p:grpSpPr>
              <a:xfrm>
                <a:off x="4373825" y="1991858"/>
                <a:ext cx="182880" cy="826193"/>
                <a:chOff x="2887354" y="2717073"/>
                <a:chExt cx="182880" cy="82619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510D134-49FC-8A4E-B9F2-18EBBCDF4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931511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8A0D928-E76F-0D4F-AB17-205C52A1BD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717073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73550767-49B8-7840-941A-E4EEB235A8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94B0A95-D51C-5741-8167-C22D5E44CD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C076D9B-A00F-1043-BB3F-CC1AFD89ED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0441553-CE6E-3B44-A2C9-AA1824ABEC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28302" y="2634505"/>
                <a:ext cx="182880" cy="182880"/>
              </a:xfrm>
              <a:prstGeom prst="ellipse">
                <a:avLst/>
              </a:prstGeom>
              <a:pattFill prst="pct5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4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AD17D5-B306-8D49-9D54-B308ABC11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884A33D-6E25-EB4D-BC46-C91576791F57}"/>
                  </a:ext>
                </a:extLst>
              </p:cNvPr>
              <p:cNvGrpSpPr/>
              <p:nvPr/>
            </p:nvGrpSpPr>
            <p:grpSpPr>
              <a:xfrm>
                <a:off x="3674072" y="2420068"/>
                <a:ext cx="182880" cy="397317"/>
                <a:chOff x="2887354" y="3145949"/>
                <a:chExt cx="182880" cy="397317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DDA33D-3635-D54F-BE87-0A2D218A4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A8AD86D-7645-7246-8F4D-FEBA755510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6273B6-4530-1748-AE76-69FA976E9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D6F3C15-83E1-744A-9F2A-9DA4EB985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FAA86505-637C-4E44-8545-5EE14E2BBC22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49D95A-443C-554B-9A8B-62E68967B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049915B-3B02-9348-8306-60C75A5C17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6D8B2F9-3A05-4B42-9204-BBCE99699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8CDAC98-93B7-C64D-A564-F83E60404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CA3FED1-86CA-AA76-32D4-9600D61627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7569" y="4998885"/>
              <a:ext cx="182880" cy="182880"/>
            </a:xfrm>
            <a:prstGeom prst="ellipse">
              <a:avLst/>
            </a:prstGeom>
            <a:pattFill prst="pct5">
              <a:fgClr>
                <a:schemeClr val="tx1">
                  <a:lumMod val="65000"/>
                  <a:lumOff val="35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27654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5" grpId="0"/>
      <p:bldP spid="83" grpId="0"/>
      <p:bldP spid="89" grpId="0" animBg="1"/>
      <p:bldP spid="94" grpId="0"/>
      <p:bldP spid="75" grpId="0" animBg="1"/>
      <p:bldP spid="54" grpId="0"/>
      <p:bldP spid="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 t="-606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394550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2904001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413452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3922903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432354"/>
            <a:ext cx="365760" cy="365760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4941805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451259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5183DD3-B0E7-4344-BADE-58A787DF4C30}"/>
              </a:ext>
            </a:extLst>
          </p:cNvPr>
          <p:cNvSpPr/>
          <p:nvPr/>
        </p:nvSpPr>
        <p:spPr>
          <a:xfrm>
            <a:off x="7810743" y="1805356"/>
            <a:ext cx="563105" cy="2519064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469FBE2-B660-8E4E-A5BD-A48887C0D30E}"/>
              </a:ext>
            </a:extLst>
          </p:cNvPr>
          <p:cNvSpPr/>
          <p:nvPr/>
        </p:nvSpPr>
        <p:spPr>
          <a:xfrm>
            <a:off x="7810742" y="4382673"/>
            <a:ext cx="563105" cy="478618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B8D468-F63D-A145-9D6B-C675CDF73452}"/>
              </a:ext>
            </a:extLst>
          </p:cNvPr>
          <p:cNvGrpSpPr/>
          <p:nvPr/>
        </p:nvGrpSpPr>
        <p:grpSpPr>
          <a:xfrm>
            <a:off x="8411764" y="1863176"/>
            <a:ext cx="1490222" cy="3953842"/>
            <a:chOff x="8411764" y="2206076"/>
            <a:chExt cx="1490222" cy="3953842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690FC76-217B-034D-9D10-738D28776815}"/>
                </a:ext>
              </a:extLst>
            </p:cNvPr>
            <p:cNvSpPr/>
            <p:nvPr/>
          </p:nvSpPr>
          <p:spPr>
            <a:xfrm>
              <a:off x="8411764" y="2206076"/>
              <a:ext cx="241016" cy="3953842"/>
            </a:xfrm>
            <a:prstGeom prst="rightBrace">
              <a:avLst>
                <a:gd name="adj1" fmla="val 37200"/>
                <a:gd name="adj2" fmla="val 50000"/>
              </a:avLst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/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𝑛</m:t>
                      </m:r>
                    </m:oMath>
                  </a14:m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 servers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blipFill>
                  <a:blip r:embed="rId4"/>
                  <a:stretch>
                    <a:fillRect t="-3030" r="-8602" b="-2727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B90E98E-E1A6-C04B-9F66-241917C6FAA9}"/>
              </a:ext>
            </a:extLst>
          </p:cNvPr>
          <p:cNvSpPr txBox="1"/>
          <p:nvPr/>
        </p:nvSpPr>
        <p:spPr>
          <a:xfrm>
            <a:off x="582962" y="4288663"/>
            <a:ext cx="108460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rgbClr val="000000"/>
                </a:solidFill>
                <a:sym typeface="Helvetica Light"/>
              </a:rPr>
              <a:t>K</a:t>
            </a:r>
            <a:r>
              <a:rPr lang="en-US" sz="2000" dirty="0">
                <a:solidFill>
                  <a:srgbClr val="000000"/>
                </a:solidFill>
                <a:sym typeface="Helvetica Light"/>
              </a:rPr>
              <a:t> jobs classes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5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/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server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blipFill>
                <a:blip r:embed="rId5"/>
                <a:stretch>
                  <a:fillRect t="-3030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412911-0C1E-9E49-A3C2-4606E23E2B30}"/>
              </a:ext>
            </a:extLst>
          </p:cNvPr>
          <p:cNvCxnSpPr>
            <a:cxnSpLocks/>
            <a:endCxn id="52" idx="4"/>
          </p:cNvCxnSpPr>
          <p:nvPr/>
        </p:nvCxnSpPr>
        <p:spPr>
          <a:xfrm flipH="1" flipV="1">
            <a:off x="3053378" y="5058101"/>
            <a:ext cx="83951" cy="33615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/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91440" rIns="91440" bIns="91440" numCol="1" spcCol="38100" rtlCol="0" anchor="t">
                <a:noAutofit/>
              </a:bodyPr>
              <a:lstStyle/>
              <a:p>
                <a:pPr marL="0" marR="0" indent="0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Class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:</a:t>
                </a: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/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Poisson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blipFill>
                <a:blip r:embed="rId7"/>
                <a:stretch>
                  <a:fillRect t="-1724" b="-1379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CB9C0-98B9-0448-AE67-8C6FE9B79C3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1911903" y="4928246"/>
            <a:ext cx="137243" cy="2669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1863176"/>
            <a:ext cx="365760" cy="365760"/>
          </a:xfrm>
          <a:prstGeom prst="ellipse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/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91440" tIns="91440" rIns="182880" bIns="91440" numCol="1" spcCol="38100" rtlCol="0" anchor="t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ℓ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046056"/>
            <a:ext cx="4142005" cy="3588083"/>
            <a:chOff x="3767411" y="20460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1509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615234"/>
              <a:ext cx="3636347" cy="3585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105783"/>
              <a:ext cx="3636347" cy="8679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596332"/>
              <a:ext cx="3636347" cy="13774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086881"/>
              <a:ext cx="3636347" cy="18868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577430"/>
              <a:ext cx="3636347" cy="23963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6603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046056"/>
              <a:ext cx="3631342" cy="29276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D9AB8A8-A54B-0C48-B78F-B57DA74EB78A}"/>
              </a:ext>
            </a:extLst>
          </p:cNvPr>
          <p:cNvSpPr txBox="1"/>
          <p:nvPr/>
        </p:nvSpPr>
        <p:spPr>
          <a:xfrm>
            <a:off x="5518765" y="4249353"/>
            <a:ext cx="1710402" cy="3021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e.g., 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prioritize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l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sym typeface="Helvetica Light"/>
              </a:rPr>
              <a:t>arger j</a:t>
            </a: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obs 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(best-fit)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sym typeface="Helvetica 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5CF058-A455-634F-B29F-4FA859275AB1}"/>
              </a:ext>
            </a:extLst>
          </p:cNvPr>
          <p:cNvGrpSpPr/>
          <p:nvPr/>
        </p:nvGrpSpPr>
        <p:grpSpPr>
          <a:xfrm>
            <a:off x="1900480" y="4141118"/>
            <a:ext cx="2372589" cy="1010699"/>
            <a:chOff x="1900480" y="4484018"/>
            <a:chExt cx="2372589" cy="101069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7467E-15C0-EB47-8E6D-9E5875F6C250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10A66D-37D0-7F4D-8133-2CA6B08A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48980C7-3134-F042-8A57-056070DCF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A289EEF-14D0-204C-914D-535ABD251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56A27AA-5EE5-244A-A7B0-CD3677AF43F8}"/>
                  </a:ext>
                </a:extLst>
              </p:cNvPr>
              <p:cNvGrpSpPr/>
              <p:nvPr/>
            </p:nvGrpSpPr>
            <p:grpSpPr>
              <a:xfrm>
                <a:off x="4373825" y="1991858"/>
                <a:ext cx="182880" cy="826193"/>
                <a:chOff x="2887354" y="2717073"/>
                <a:chExt cx="182880" cy="82619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510D134-49FC-8A4E-B9F2-18EBBCDF4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931511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8A0D928-E76F-0D4F-AB17-205C52A1BD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717073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73550767-49B8-7840-941A-E4EEB235A8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94B0A95-D51C-5741-8167-C22D5E44CD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C076D9B-A00F-1043-BB3F-CC1AFD89ED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AD17D5-B306-8D49-9D54-B308ABC11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6273B6-4530-1748-AE76-69FA976E9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D6F3C15-83E1-744A-9F2A-9DA4EB985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FAA86505-637C-4E44-8545-5EE14E2BBC22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49D95A-443C-554B-9A8B-62E68967B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049915B-3B02-9348-8306-60C75A5C17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6D8B2F9-3A05-4B42-9204-BBCE99699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8CDAC98-93B7-C64D-A564-F83E60404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2144FF5-9C75-4848-9490-AACB60AA856F}"/>
              </a:ext>
            </a:extLst>
          </p:cNvPr>
          <p:cNvSpPr txBox="1"/>
          <p:nvPr/>
        </p:nvSpPr>
        <p:spPr>
          <a:xfrm>
            <a:off x="5102379" y="4121397"/>
            <a:ext cx="468832" cy="658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18288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❓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F8953C3-9747-BBD8-7381-3EF0ADB9A14A}"/>
              </a:ext>
            </a:extLst>
          </p:cNvPr>
          <p:cNvSpPr/>
          <p:nvPr/>
        </p:nvSpPr>
        <p:spPr>
          <a:xfrm>
            <a:off x="7805738" y="4906908"/>
            <a:ext cx="563105" cy="960120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535CEDD-81DD-9F5F-04E6-AA3CE405E775}"/>
                  </a:ext>
                </a:extLst>
              </p:cNvPr>
              <p:cNvSpPr txBox="1"/>
              <p:nvPr/>
            </p:nvSpPr>
            <p:spPr>
              <a:xfrm>
                <a:off x="2451634" y="5695679"/>
                <a:ext cx="2631554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service time ~ </a:t>
                </a:r>
                <a:r>
                  <a:rPr lang="en-US" sz="20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535CEDD-81DD-9F5F-04E6-AA3CE405E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4" y="5695679"/>
                <a:ext cx="2631554" cy="410369"/>
              </a:xfrm>
              <a:prstGeom prst="rect">
                <a:avLst/>
              </a:prstGeom>
              <a:blipFill>
                <a:blip r:embed="rId9"/>
                <a:stretch>
                  <a:fillRect l="-3365" r="-3365" b="-2647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9ED463D6-4F9C-BD46-D6A2-4032B8A265D0}"/>
              </a:ext>
            </a:extLst>
          </p:cNvPr>
          <p:cNvSpPr>
            <a:spLocks noChangeAspect="1"/>
          </p:cNvSpPr>
          <p:nvPr/>
        </p:nvSpPr>
        <p:spPr>
          <a:xfrm>
            <a:off x="3293557" y="4660298"/>
            <a:ext cx="182880" cy="18288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B925459-9433-28C4-5CB2-4D0ABA918D4E}"/>
              </a:ext>
            </a:extLst>
          </p:cNvPr>
          <p:cNvSpPr>
            <a:spLocks noChangeAspect="1"/>
          </p:cNvSpPr>
          <p:nvPr/>
        </p:nvSpPr>
        <p:spPr>
          <a:xfrm>
            <a:off x="3293557" y="4874735"/>
            <a:ext cx="182880" cy="18288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94548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 t="-606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394550"/>
            <a:ext cx="365760" cy="365760"/>
          </a:xfrm>
          <a:prstGeom prst="ellipse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2000" dirty="0">
              <a:solidFill>
                <a:schemeClr val="tx1"/>
              </a:solidFill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2904001"/>
            <a:ext cx="365760" cy="365760"/>
          </a:xfrm>
          <a:prstGeom prst="ellipse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2000" dirty="0">
              <a:solidFill>
                <a:schemeClr val="tx1"/>
              </a:solidFill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413452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2000" dirty="0">
              <a:solidFill>
                <a:schemeClr val="tx1"/>
              </a:solidFill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3922903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2000" dirty="0">
              <a:solidFill>
                <a:schemeClr val="tx1"/>
              </a:solidFill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432354"/>
            <a:ext cx="365760" cy="365760"/>
          </a:xfrm>
          <a:prstGeom prst="ellipse">
            <a:avLst/>
          </a:prstGeom>
          <a:pattFill prst="openDmnd">
            <a:fgClr>
              <a:schemeClr val="tx1">
                <a:lumMod val="65000"/>
                <a:lumOff val="35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4941805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451259"/>
            <a:ext cx="365760" cy="365760"/>
          </a:xfrm>
          <a:prstGeom prst="ellipse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accent4">
                <a:lumMod val="60000"/>
                <a:lumOff val="40000"/>
              </a:schemeClr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5183DD3-B0E7-4344-BADE-58A787DF4C30}"/>
              </a:ext>
            </a:extLst>
          </p:cNvPr>
          <p:cNvSpPr/>
          <p:nvPr/>
        </p:nvSpPr>
        <p:spPr>
          <a:xfrm>
            <a:off x="7810743" y="3363442"/>
            <a:ext cx="563105" cy="960977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469FBE2-B660-8E4E-A5BD-A48887C0D30E}"/>
              </a:ext>
            </a:extLst>
          </p:cNvPr>
          <p:cNvSpPr/>
          <p:nvPr/>
        </p:nvSpPr>
        <p:spPr>
          <a:xfrm>
            <a:off x="7810742" y="4382673"/>
            <a:ext cx="563105" cy="478618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B8D468-F63D-A145-9D6B-C675CDF73452}"/>
              </a:ext>
            </a:extLst>
          </p:cNvPr>
          <p:cNvGrpSpPr/>
          <p:nvPr/>
        </p:nvGrpSpPr>
        <p:grpSpPr>
          <a:xfrm>
            <a:off x="8411764" y="1863176"/>
            <a:ext cx="1490222" cy="3953842"/>
            <a:chOff x="8411764" y="2206076"/>
            <a:chExt cx="1490222" cy="3953842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690FC76-217B-034D-9D10-738D28776815}"/>
                </a:ext>
              </a:extLst>
            </p:cNvPr>
            <p:cNvSpPr/>
            <p:nvPr/>
          </p:nvSpPr>
          <p:spPr>
            <a:xfrm>
              <a:off x="8411764" y="2206076"/>
              <a:ext cx="241016" cy="3953842"/>
            </a:xfrm>
            <a:prstGeom prst="rightBrace">
              <a:avLst>
                <a:gd name="adj1" fmla="val 37200"/>
                <a:gd name="adj2" fmla="val 50000"/>
              </a:avLst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/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𝑛</m:t>
                      </m:r>
                    </m:oMath>
                  </a14:m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 servers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7281C01-0B1C-CA43-B066-39D00FAE5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7051" y="3956040"/>
                  <a:ext cx="1164935" cy="410369"/>
                </a:xfrm>
                <a:prstGeom prst="rect">
                  <a:avLst/>
                </a:prstGeom>
                <a:blipFill>
                  <a:blip r:embed="rId4"/>
                  <a:stretch>
                    <a:fillRect t="-3030" r="-8602" b="-2727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B90E98E-E1A6-C04B-9F66-241917C6FAA9}"/>
              </a:ext>
            </a:extLst>
          </p:cNvPr>
          <p:cNvSpPr txBox="1"/>
          <p:nvPr/>
        </p:nvSpPr>
        <p:spPr>
          <a:xfrm>
            <a:off x="582962" y="4288663"/>
            <a:ext cx="108460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rgbClr val="000000"/>
                </a:solidFill>
                <a:sym typeface="Helvetica Light"/>
              </a:rPr>
              <a:t>K</a:t>
            </a:r>
            <a:r>
              <a:rPr lang="en-US" sz="2000" dirty="0">
                <a:solidFill>
                  <a:srgbClr val="000000"/>
                </a:solidFill>
                <a:sym typeface="Helvetica Light"/>
              </a:rPr>
              <a:t> jobs classes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815294" y="6509187"/>
            <a:ext cx="376706" cy="348813"/>
          </a:xfrm>
        </p:spPr>
        <p:txBody>
          <a:bodyPr/>
          <a:lstStyle/>
          <a:p>
            <a:fld id="{86CB4B4D-7CA3-9044-876B-883B54F8677D}" type="slidenum">
              <a:rPr lang="uk-UA" smtClean="0"/>
              <a:pPr/>
              <a:t>6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/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server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1" y="5397055"/>
                <a:ext cx="2134892" cy="410369"/>
              </a:xfrm>
              <a:prstGeom prst="rect">
                <a:avLst/>
              </a:prstGeom>
              <a:blipFill>
                <a:blip r:embed="rId5"/>
                <a:stretch>
                  <a:fillRect t="-3030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412911-0C1E-9E49-A3C2-4606E23E2B30}"/>
              </a:ext>
            </a:extLst>
          </p:cNvPr>
          <p:cNvCxnSpPr>
            <a:cxnSpLocks/>
            <a:endCxn id="52" idx="4"/>
          </p:cNvCxnSpPr>
          <p:nvPr/>
        </p:nvCxnSpPr>
        <p:spPr>
          <a:xfrm flipH="1" flipV="1">
            <a:off x="3053378" y="5058101"/>
            <a:ext cx="83951" cy="33615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/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91440" rIns="91440" bIns="91440" numCol="1" spcCol="38100" rtlCol="0" anchor="t">
                <a:noAutofit/>
              </a:bodyPr>
              <a:lstStyle/>
              <a:p>
                <a:pPr marL="0" marR="0" indent="0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Class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:</a:t>
                </a: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0" y="3223260"/>
                <a:ext cx="137369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/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Poisson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057" y="5195178"/>
                <a:ext cx="1373692" cy="718145"/>
              </a:xfrm>
              <a:prstGeom prst="rect">
                <a:avLst/>
              </a:prstGeom>
              <a:blipFill>
                <a:blip r:embed="rId7"/>
                <a:stretch>
                  <a:fillRect t="-1724" b="-1379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CB9C0-98B9-0448-AE67-8C6FE9B79C3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1911903" y="4928246"/>
            <a:ext cx="137243" cy="2669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1863176"/>
            <a:ext cx="365760" cy="365760"/>
          </a:xfrm>
          <a:prstGeom prst="ellipse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2000" dirty="0">
              <a:solidFill>
                <a:schemeClr val="tx1"/>
              </a:solidFill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/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91440" tIns="91440" rIns="182880" bIns="91440" numCol="1" spcCol="38100" rtlCol="0" anchor="t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ℓ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64" y="3223756"/>
                <a:ext cx="142658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046056"/>
            <a:ext cx="4142005" cy="3588083"/>
            <a:chOff x="3767411" y="20460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1509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615234"/>
              <a:ext cx="3636347" cy="3585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105783"/>
              <a:ext cx="3636347" cy="8679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596332"/>
              <a:ext cx="3636347" cy="13774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086881"/>
              <a:ext cx="3636347" cy="18868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577430"/>
              <a:ext cx="3636347" cy="23963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6603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046056"/>
              <a:ext cx="3631342" cy="29276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D9AB8A8-A54B-0C48-B78F-B57DA74EB78A}"/>
              </a:ext>
            </a:extLst>
          </p:cNvPr>
          <p:cNvSpPr txBox="1"/>
          <p:nvPr/>
        </p:nvSpPr>
        <p:spPr>
          <a:xfrm>
            <a:off x="5518764" y="4249353"/>
            <a:ext cx="1937305" cy="3021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C00000"/>
                </a:solidFill>
                <a:sym typeface="Helvetica Light"/>
              </a:rPr>
              <a:t>e.g., prioritize smaller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sym typeface="Helvetica Light"/>
              </a:rPr>
              <a:t>jobs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5CF058-A455-634F-B29F-4FA859275AB1}"/>
              </a:ext>
            </a:extLst>
          </p:cNvPr>
          <p:cNvGrpSpPr/>
          <p:nvPr/>
        </p:nvGrpSpPr>
        <p:grpSpPr>
          <a:xfrm>
            <a:off x="1900480" y="4141118"/>
            <a:ext cx="2372589" cy="1010699"/>
            <a:chOff x="1900480" y="4484018"/>
            <a:chExt cx="2372589" cy="101069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7467E-15C0-EB47-8E6D-9E5875F6C250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10A66D-37D0-7F4D-8133-2CA6B08A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48980C7-3134-F042-8A57-056070DCF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A289EEF-14D0-204C-914D-535ABD251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C076D9B-A00F-1043-BB3F-CC1AFD89ED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AD17D5-B306-8D49-9D54-B308ABC11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6273B6-4530-1748-AE76-69FA976E9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D6F3C15-83E1-744A-9F2A-9DA4EB985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FAA86505-637C-4E44-8545-5EE14E2BBC22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49D95A-443C-554B-9A8B-62E68967B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049915B-3B02-9348-8306-60C75A5C17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6D8B2F9-3A05-4B42-9204-BBCE99699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8CDAC98-93B7-C64D-A564-F83E60404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2144FF5-9C75-4848-9490-AACB60AA856F}"/>
              </a:ext>
            </a:extLst>
          </p:cNvPr>
          <p:cNvSpPr txBox="1"/>
          <p:nvPr/>
        </p:nvSpPr>
        <p:spPr>
          <a:xfrm>
            <a:off x="5102379" y="4121397"/>
            <a:ext cx="468832" cy="658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18288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❓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F8953C3-9747-BBD8-7381-3EF0ADB9A14A}"/>
              </a:ext>
            </a:extLst>
          </p:cNvPr>
          <p:cNvSpPr/>
          <p:nvPr/>
        </p:nvSpPr>
        <p:spPr>
          <a:xfrm>
            <a:off x="7805738" y="4906908"/>
            <a:ext cx="563105" cy="960120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C66D29-D7F3-38AD-9ECC-3C9822C67764}"/>
                  </a:ext>
                </a:extLst>
              </p:cNvPr>
              <p:cNvSpPr txBox="1"/>
              <p:nvPr/>
            </p:nvSpPr>
            <p:spPr>
              <a:xfrm>
                <a:off x="2451634" y="5695679"/>
                <a:ext cx="2631554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service time ~ </a:t>
                </a:r>
                <a:r>
                  <a:rPr lang="en-US" sz="20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C66D29-D7F3-38AD-9ECC-3C9822C6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4" y="5695679"/>
                <a:ext cx="2631554" cy="410369"/>
              </a:xfrm>
              <a:prstGeom prst="rect">
                <a:avLst/>
              </a:prstGeom>
              <a:blipFill>
                <a:blip r:embed="rId9"/>
                <a:stretch>
                  <a:fillRect l="-3365" r="-3365" b="-2647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>
            <a:extLst>
              <a:ext uri="{FF2B5EF4-FFF2-40B4-BE49-F238E27FC236}">
                <a16:creationId xmlns:a16="http://schemas.microsoft.com/office/drawing/2014/main" id="{522D26D7-C5BF-7B2B-BAF6-5C5C1FE9EB32}"/>
              </a:ext>
            </a:extLst>
          </p:cNvPr>
          <p:cNvSpPr>
            <a:spLocks noChangeAspect="1"/>
          </p:cNvSpPr>
          <p:nvPr/>
        </p:nvSpPr>
        <p:spPr>
          <a:xfrm>
            <a:off x="3993310" y="4446526"/>
            <a:ext cx="182880" cy="182880"/>
          </a:xfrm>
          <a:prstGeom prst="ellipse">
            <a:avLst/>
          </a:prstGeom>
          <a:pattFill prst="wave">
            <a:fgClr>
              <a:schemeClr val="tx1">
                <a:lumMod val="65000"/>
                <a:lumOff val="35000"/>
              </a:schemeClr>
            </a:fgClr>
            <a:bgClr>
              <a:srgbClr val="92D050"/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93C816D-FFFC-341C-EB5F-F743F1CFF989}"/>
              </a:ext>
            </a:extLst>
          </p:cNvPr>
          <p:cNvSpPr>
            <a:spLocks noChangeAspect="1"/>
          </p:cNvSpPr>
          <p:nvPr/>
        </p:nvSpPr>
        <p:spPr>
          <a:xfrm>
            <a:off x="3993310" y="4232088"/>
            <a:ext cx="182880" cy="182880"/>
          </a:xfrm>
          <a:prstGeom prst="ellipse">
            <a:avLst/>
          </a:prstGeom>
          <a:pattFill prst="wave">
            <a:fgClr>
              <a:schemeClr val="tx1">
                <a:lumMod val="65000"/>
                <a:lumOff val="35000"/>
              </a:schemeClr>
            </a:fgClr>
            <a:bgClr>
              <a:srgbClr val="92D050"/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793505D-5218-4466-9B0C-822FD10E3389}"/>
              </a:ext>
            </a:extLst>
          </p:cNvPr>
          <p:cNvSpPr>
            <a:spLocks noChangeAspect="1"/>
          </p:cNvSpPr>
          <p:nvPr/>
        </p:nvSpPr>
        <p:spPr>
          <a:xfrm>
            <a:off x="3993310" y="4660964"/>
            <a:ext cx="182880" cy="182880"/>
          </a:xfrm>
          <a:prstGeom prst="ellipse">
            <a:avLst/>
          </a:prstGeom>
          <a:pattFill prst="wave">
            <a:fgClr>
              <a:schemeClr val="tx1">
                <a:lumMod val="65000"/>
                <a:lumOff val="35000"/>
              </a:schemeClr>
            </a:fgClr>
            <a:bgClr>
              <a:srgbClr val="92D050"/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D28CA3-091B-C989-E6EE-1FCA2611B6D2}"/>
              </a:ext>
            </a:extLst>
          </p:cNvPr>
          <p:cNvSpPr>
            <a:spLocks noChangeAspect="1"/>
          </p:cNvSpPr>
          <p:nvPr/>
        </p:nvSpPr>
        <p:spPr>
          <a:xfrm>
            <a:off x="3993310" y="4875401"/>
            <a:ext cx="182880" cy="182880"/>
          </a:xfrm>
          <a:prstGeom prst="ellipse">
            <a:avLst/>
          </a:prstGeom>
          <a:pattFill prst="wave">
            <a:fgClr>
              <a:schemeClr val="tx1">
                <a:lumMod val="65000"/>
                <a:lumOff val="35000"/>
              </a:schemeClr>
            </a:fgClr>
            <a:bgClr>
              <a:srgbClr val="92D050"/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7CC4002-E077-610E-0F3A-3ED9B7EF8BAE}"/>
              </a:ext>
            </a:extLst>
          </p:cNvPr>
          <p:cNvSpPr>
            <a:spLocks noChangeAspect="1"/>
          </p:cNvSpPr>
          <p:nvPr/>
        </p:nvSpPr>
        <p:spPr>
          <a:xfrm>
            <a:off x="3314185" y="4911797"/>
            <a:ext cx="146304" cy="146304"/>
          </a:xfrm>
          <a:prstGeom prst="ellipse">
            <a:avLst/>
          </a:prstGeom>
          <a:pattFill prst="ltDnDiag">
            <a:fgClr>
              <a:schemeClr val="tx1">
                <a:lumMod val="65000"/>
                <a:lumOff val="3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316AA61-468D-07FC-BDCE-8E298E2A5D68}"/>
              </a:ext>
            </a:extLst>
          </p:cNvPr>
          <p:cNvSpPr>
            <a:spLocks noChangeAspect="1"/>
          </p:cNvSpPr>
          <p:nvPr/>
        </p:nvSpPr>
        <p:spPr>
          <a:xfrm>
            <a:off x="3314185" y="4572187"/>
            <a:ext cx="146304" cy="146304"/>
          </a:xfrm>
          <a:prstGeom prst="ellipse">
            <a:avLst/>
          </a:prstGeom>
          <a:pattFill prst="ltDnDiag">
            <a:fgClr>
              <a:schemeClr val="tx1">
                <a:lumMod val="65000"/>
                <a:lumOff val="3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0C6BB06-E4F3-076F-F125-BE2BB21CB54E}"/>
              </a:ext>
            </a:extLst>
          </p:cNvPr>
          <p:cNvSpPr>
            <a:spLocks noChangeAspect="1"/>
          </p:cNvSpPr>
          <p:nvPr/>
        </p:nvSpPr>
        <p:spPr>
          <a:xfrm>
            <a:off x="3314185" y="4402382"/>
            <a:ext cx="146304" cy="146304"/>
          </a:xfrm>
          <a:prstGeom prst="ellipse">
            <a:avLst/>
          </a:prstGeom>
          <a:pattFill prst="ltDnDiag">
            <a:fgClr>
              <a:schemeClr val="tx1">
                <a:lumMod val="65000"/>
                <a:lumOff val="3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7A8487-D461-4D42-BFD2-7EFB38B8E318}"/>
              </a:ext>
            </a:extLst>
          </p:cNvPr>
          <p:cNvSpPr>
            <a:spLocks noChangeAspect="1"/>
          </p:cNvSpPr>
          <p:nvPr/>
        </p:nvSpPr>
        <p:spPr>
          <a:xfrm>
            <a:off x="3314185" y="4741992"/>
            <a:ext cx="146304" cy="146304"/>
          </a:xfrm>
          <a:prstGeom prst="ellipse">
            <a:avLst/>
          </a:prstGeom>
          <a:pattFill prst="ltDnDiag">
            <a:fgClr>
              <a:schemeClr val="tx1">
                <a:lumMod val="65000"/>
                <a:lumOff val="3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4DA0174-C9D0-9866-160A-73A11D1FDC10}"/>
              </a:ext>
            </a:extLst>
          </p:cNvPr>
          <p:cNvSpPr>
            <a:spLocks noChangeAspect="1"/>
          </p:cNvSpPr>
          <p:nvPr/>
        </p:nvSpPr>
        <p:spPr>
          <a:xfrm>
            <a:off x="3314185" y="4232577"/>
            <a:ext cx="146304" cy="146304"/>
          </a:xfrm>
          <a:prstGeom prst="ellipse">
            <a:avLst/>
          </a:prstGeom>
          <a:pattFill prst="ltDnDiag">
            <a:fgClr>
              <a:schemeClr val="tx1">
                <a:lumMod val="65000"/>
                <a:lumOff val="35000"/>
              </a:schemeClr>
            </a:fgClr>
            <a:bgClr>
              <a:schemeClr val="accent5">
                <a:lumMod val="60000"/>
                <a:lumOff val="40000"/>
              </a:schemeClr>
            </a:bgClr>
          </a:patt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49461134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EFD1-5D7D-6441-89A4-8E5B50A6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waiting times (averaged over all jobs)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8E8FA-A237-7C69-5DE6-3ABD4DBB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43" y="1564569"/>
            <a:ext cx="4683760" cy="3515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6C20E6-4678-8045-8064-CA4C8D9B7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133" y="1564569"/>
            <a:ext cx="4683760" cy="3515360"/>
          </a:xfrm>
          <a:prstGeom prst="rect">
            <a:avLst/>
          </a:prstGeom>
        </p:spPr>
      </p:pic>
      <p:sp>
        <p:nvSpPr>
          <p:cNvPr id="71" name="Rounded Rectangular Callout 70">
            <a:extLst>
              <a:ext uri="{FF2B5EF4-FFF2-40B4-BE49-F238E27FC236}">
                <a16:creationId xmlns:a16="http://schemas.microsoft.com/office/drawing/2014/main" id="{CE5750F7-FFD0-E7F0-3F98-566372A13B90}"/>
              </a:ext>
            </a:extLst>
          </p:cNvPr>
          <p:cNvSpPr/>
          <p:nvPr/>
        </p:nvSpPr>
        <p:spPr>
          <a:xfrm>
            <a:off x="2017884" y="5293431"/>
            <a:ext cx="8153184" cy="731520"/>
          </a:xfrm>
          <a:prstGeom prst="wedgeRoundRectCallout">
            <a:avLst>
              <a:gd name="adj1" fmla="val -55105"/>
              <a:gd name="adj2" fmla="val 40066"/>
              <a:gd name="adj3" fmla="val 16667"/>
            </a:avLst>
          </a:prstGeom>
          <a:solidFill>
            <a:schemeClr val="bg1"/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How should we understand these different behaviors?</a:t>
            </a:r>
          </a:p>
        </p:txBody>
      </p:sp>
    </p:spTree>
    <p:extLst>
      <p:ext uri="{BB962C8B-B14F-4D97-AF65-F5344CB8AC3E}">
        <p14:creationId xmlns:p14="http://schemas.microsoft.com/office/powerpoint/2010/main" val="1958338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48640" y="365759"/>
                <a:ext cx="11091672" cy="1077289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b="1" u="sng" dirty="0"/>
                  <a:t>Goal:</a:t>
                </a:r>
                <a:r>
                  <a:rPr lang="en-US" u="sng" dirty="0"/>
                  <a:t> understand waiting time</a:t>
                </a:r>
                <a:br>
                  <a:rPr lang="en-US" dirty="0"/>
                </a:br>
                <a:r>
                  <a:rPr lang="en-US" dirty="0"/>
                  <a:t>			in steady-state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large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8640" y="365759"/>
                <a:ext cx="11091672" cy="1077289"/>
              </a:xfrm>
              <a:blipFill>
                <a:blip r:embed="rId3"/>
                <a:stretch>
                  <a:fillRect l="-1943" t="-13953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73745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3246901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7563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4265803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77525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5284705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794159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8</a:t>
            </a:fld>
            <a:endParaRPr lang="uk-UA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22060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388956"/>
            <a:ext cx="4142005" cy="3588083"/>
            <a:chOff x="3767411" y="23889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4938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958134"/>
              <a:ext cx="3636347" cy="156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448683"/>
              <a:ext cx="3636347" cy="5250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939232"/>
              <a:ext cx="3636347" cy="10345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429781"/>
              <a:ext cx="3636347" cy="15439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920330"/>
              <a:ext cx="3636347" cy="20534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10032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388956"/>
              <a:ext cx="3631342" cy="25847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41511B-2593-A04F-921E-EC1CD91E2E4C}"/>
              </a:ext>
            </a:extLst>
          </p:cNvPr>
          <p:cNvGrpSpPr/>
          <p:nvPr/>
        </p:nvGrpSpPr>
        <p:grpSpPr>
          <a:xfrm>
            <a:off x="1900480" y="4484018"/>
            <a:ext cx="2372589" cy="1010699"/>
            <a:chOff x="1900480" y="4484018"/>
            <a:chExt cx="2372589" cy="101069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5E5CD1D-CC67-CC4B-B716-5E5CF7A62D72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868396C-46DE-2F4F-A63F-D88066138F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6478D91-3CCD-9144-9805-F08B1136B3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800924B-C7A7-334A-BD2E-D45675C1D2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F966C2D2-F905-C049-90FC-0B7964E0881B}"/>
                  </a:ext>
                </a:extLst>
              </p:cNvPr>
              <p:cNvGrpSpPr/>
              <p:nvPr/>
            </p:nvGrpSpPr>
            <p:grpSpPr>
              <a:xfrm>
                <a:off x="4373825" y="1991858"/>
                <a:ext cx="182880" cy="826193"/>
                <a:chOff x="2887354" y="2717073"/>
                <a:chExt cx="182880" cy="826193"/>
              </a:xfrm>
            </p:grpSpPr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AB862A2A-BAD6-034B-8A65-B72972F607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931511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8C868A6B-755B-7746-852B-F31098067E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717073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E47B5F4F-4900-4442-A1C1-2C8309C6ED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1DC68DDF-4483-6C47-BA17-7A1DAB9518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66DA992-8F52-6A49-869D-5F0A884BFA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B7C9610-A14D-8840-87E0-105173CC4C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28302" y="2634505"/>
                <a:ext cx="182880" cy="182880"/>
              </a:xfrm>
              <a:prstGeom prst="ellipse">
                <a:avLst/>
              </a:prstGeom>
              <a:pattFill prst="openDmnd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1">
                    <a:lumMod val="40000"/>
                    <a:lumOff val="6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BB7B819-3E1A-8642-81DA-7234C3BC7C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679C657B-6F86-4345-AC65-2FB076EE4E08}"/>
                  </a:ext>
                </a:extLst>
              </p:cNvPr>
              <p:cNvGrpSpPr/>
              <p:nvPr/>
            </p:nvGrpSpPr>
            <p:grpSpPr>
              <a:xfrm>
                <a:off x="3674072" y="2420068"/>
                <a:ext cx="182880" cy="397317"/>
                <a:chOff x="2887354" y="3145949"/>
                <a:chExt cx="182880" cy="397317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579E1CD-6BB3-EC4A-A755-AE8C57C052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48FF8F21-CCF1-5647-B298-3BC0EB8E0F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D02C0F6-DE24-7F40-B1CE-3C37DB220F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0A7709F-17B8-7542-81DC-C141621A54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83" name="Right Arrow 82">
                <a:extLst>
                  <a:ext uri="{FF2B5EF4-FFF2-40B4-BE49-F238E27FC236}">
                    <a16:creationId xmlns:a16="http://schemas.microsoft.com/office/drawing/2014/main" id="{4D0BCBF0-4408-404F-A5DB-C0F472F289A8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C59B4C3-E277-0743-93A9-D745352280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6A4BC41-C900-984D-A0D1-1F41C11E45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3FA5B8-A40B-C14B-8913-481E80B24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DEA05BA-7793-9443-86E3-A048DC2C39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53" name="Rounded Rectangular Callout 52">
            <a:extLst>
              <a:ext uri="{FF2B5EF4-FFF2-40B4-BE49-F238E27FC236}">
                <a16:creationId xmlns:a16="http://schemas.microsoft.com/office/drawing/2014/main" id="{F8B00648-75DF-DB4F-89A8-886EB2F0407A}"/>
              </a:ext>
            </a:extLst>
          </p:cNvPr>
          <p:cNvSpPr/>
          <p:nvPr/>
        </p:nvSpPr>
        <p:spPr>
          <a:xfrm flipH="1">
            <a:off x="1038892" y="1869288"/>
            <a:ext cx="4822521" cy="1070138"/>
          </a:xfrm>
          <a:prstGeom prst="wedgeRoundRectCallout">
            <a:avLst>
              <a:gd name="adj1" fmla="val 63638"/>
              <a:gd name="adj2" fmla="val 54773"/>
              <a:gd name="adj3" fmla="val 16667"/>
            </a:avLst>
          </a:prstGeom>
          <a:solidFill>
            <a:srgbClr val="FFFFFF"/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Which scheduling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policy minimizes waiting time?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AF64E36-DB6A-B740-91B7-227CA393DF14}"/>
                  </a:ext>
                </a:extLst>
              </p:cNvPr>
              <p:cNvSpPr txBox="1"/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Light"/>
                      </a:rPr>
                      <m:t>𝑛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servers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AF64E36-DB6A-B740-91B7-227CA393D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blipFill>
                <a:blip r:embed="rId4"/>
                <a:stretch>
                  <a:fillRect l="-1075" t="-3030" r="-8602" b="-303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6E62FAC4-7671-C84B-92C6-263720DC60DE}"/>
              </a:ext>
            </a:extLst>
          </p:cNvPr>
          <p:cNvSpPr txBox="1"/>
          <p:nvPr/>
        </p:nvSpPr>
        <p:spPr>
          <a:xfrm>
            <a:off x="5102379" y="4464297"/>
            <a:ext cx="468832" cy="658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18288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❓</a:t>
            </a:r>
          </a:p>
        </p:txBody>
      </p:sp>
    </p:spTree>
    <p:extLst>
      <p:ext uri="{BB962C8B-B14F-4D97-AF65-F5344CB8AC3E}">
        <p14:creationId xmlns:p14="http://schemas.microsoft.com/office/powerpoint/2010/main" val="16165540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EAE0-00A4-F343-B875-018E0EB2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CFCF73-65B9-E14E-B9E5-3736AA5BBD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Exact analysis</a:t>
                </a:r>
              </a:p>
              <a:p>
                <a:pPr lvl="1"/>
                <a:r>
                  <a:rPr lang="en-US" dirty="0"/>
                  <a:t>Stationary distribution for two-server systems 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[Brill, Green 1984], [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Filippopoulos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Karatza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2007]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Stability </a:t>
                </a: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</a:t>
                </a:r>
                <a:r>
                  <a:rPr lang="en-US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Rumyantsev</a:t>
                </a: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Morozov 2017], [</a:t>
                </a:r>
                <a:r>
                  <a:rPr lang="en-US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Afanaseva</a:t>
                </a: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Bashtova</a:t>
                </a: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Grishunina</a:t>
                </a: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2019]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Grosof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Harchol-Balter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Scheller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-Wolf 2020]</a:t>
                </a:r>
                <a:endParaRPr lang="en-US" sz="1600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Approximate analysis in heavy traffic</a:t>
                </a:r>
              </a:p>
              <a:p>
                <a:pPr lvl="1"/>
                <a:r>
                  <a:rPr lang="en-US" dirty="0"/>
                  <a:t>Response time bounds for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Grosof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Harchol-Balter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Scheller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-Wolf 2021]</a:t>
                </a:r>
              </a:p>
              <a:p>
                <a:pPr lvl="1"/>
                <a:r>
                  <a:rPr lang="en-US" dirty="0"/>
                  <a:t>Queueing probability for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[Wang,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Xie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Harchol-Balter</a:t>
                </a:r>
                <a:r>
                  <a:rPr 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2021]</a:t>
                </a:r>
              </a:p>
              <a:p>
                <a:pPr marL="317500" lvl="1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CFCF73-65B9-E14E-B9E5-3736AA5BB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571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8CA45-DED1-F042-B98B-75DAF185D0B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9</a:t>
            </a:fld>
            <a:endParaRPr lang="uk-U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FF14ED-FDCE-5844-B736-AF87C4414DA2}"/>
              </a:ext>
            </a:extLst>
          </p:cNvPr>
          <p:cNvSpPr txBox="1">
            <a:spLocks/>
          </p:cNvSpPr>
          <p:nvPr/>
        </p:nvSpPr>
        <p:spPr>
          <a:xfrm>
            <a:off x="548640" y="4707960"/>
            <a:ext cx="11091672" cy="141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+mj-lt"/>
                <a:ea typeface="+mn-ea"/>
                <a:cs typeface="+mn-cs"/>
                <a:sym typeface="Helvetica Light"/>
              </a:defRPr>
            </a:lvl1pPr>
            <a:lvl2pPr marL="0" marR="0" indent="1143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8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429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57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715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85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8001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914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3600" b="1" u="sng" kern="0" dirty="0"/>
              <a:t>Summary:</a:t>
            </a:r>
            <a:r>
              <a:rPr lang="en-US" sz="3600" kern="0" dirty="0"/>
              <a:t>  limited understanding of waiting time of</a:t>
            </a:r>
          </a:p>
          <a:p>
            <a:r>
              <a:rPr lang="en-US" sz="3600" kern="0" dirty="0"/>
              <a:t>					  multiserver jobs in large systems </a:t>
            </a:r>
          </a:p>
        </p:txBody>
      </p:sp>
    </p:spTree>
    <p:extLst>
      <p:ext uri="{BB962C8B-B14F-4D97-AF65-F5344CB8AC3E}">
        <p14:creationId xmlns:p14="http://schemas.microsoft.com/office/powerpoint/2010/main" val="2193325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Scaling regimes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 t="-606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73745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3246901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756352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4265803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775254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5284705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794159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7281C01-0B1C-CA43-B066-39D00FAE5E71}"/>
                  </a:ext>
                </a:extLst>
              </p:cNvPr>
              <p:cNvSpPr txBox="1"/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Light"/>
                      </a:rPr>
                      <m:t>𝑛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servers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7281C01-0B1C-CA43-B066-39D00FAE5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blipFill>
                <a:blip r:embed="rId4"/>
                <a:stretch>
                  <a:fillRect l="-1075" t="-3030" r="-8602" b="-303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4B90E98E-E1A6-C04B-9F66-241917C6FAA9}"/>
              </a:ext>
            </a:extLst>
          </p:cNvPr>
          <p:cNvSpPr txBox="1"/>
          <p:nvPr/>
        </p:nvSpPr>
        <p:spPr>
          <a:xfrm>
            <a:off x="582962" y="4631563"/>
            <a:ext cx="108460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rgbClr val="000000"/>
                </a:solidFill>
                <a:sym typeface="Helvetica Light"/>
              </a:rPr>
              <a:t>K</a:t>
            </a:r>
            <a:r>
              <a:rPr lang="en-US" sz="2000" dirty="0">
                <a:solidFill>
                  <a:srgbClr val="000000"/>
                </a:solidFill>
                <a:sym typeface="Helvetica Light"/>
              </a:rPr>
              <a:t> jobs classes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10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/>
              <p:nvPr/>
            </p:nvSpPr>
            <p:spPr>
              <a:xfrm>
                <a:off x="2451634" y="6038579"/>
                <a:ext cx="2631554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service time ~ </a:t>
                </a:r>
                <a:r>
                  <a:rPr lang="en-US" sz="20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4" y="6038579"/>
                <a:ext cx="2631554" cy="410369"/>
              </a:xfrm>
              <a:prstGeom prst="rect">
                <a:avLst/>
              </a:prstGeom>
              <a:blipFill>
                <a:blip r:embed="rId5"/>
                <a:stretch>
                  <a:fillRect l="-3349" t="-3030" r="-3349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/>
              <p:nvPr/>
            </p:nvSpPr>
            <p:spPr>
              <a:xfrm>
                <a:off x="2580341" y="5739955"/>
                <a:ext cx="21348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server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1" y="5739955"/>
                <a:ext cx="2134892" cy="410369"/>
              </a:xfrm>
              <a:prstGeom prst="rect">
                <a:avLst/>
              </a:prstGeom>
              <a:blipFill>
                <a:blip r:embed="rId6"/>
                <a:stretch>
                  <a:fillRect t="-3030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412911-0C1E-9E49-A3C2-4606E23E2B30}"/>
              </a:ext>
            </a:extLst>
          </p:cNvPr>
          <p:cNvCxnSpPr>
            <a:cxnSpLocks/>
            <a:endCxn id="52" idx="4"/>
          </p:cNvCxnSpPr>
          <p:nvPr/>
        </p:nvCxnSpPr>
        <p:spPr>
          <a:xfrm flipH="1" flipV="1">
            <a:off x="3053378" y="5401001"/>
            <a:ext cx="83951" cy="33615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/>
              <p:nvPr/>
            </p:nvSpPr>
            <p:spPr>
              <a:xfrm>
                <a:off x="630400" y="3566160"/>
                <a:ext cx="137369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91440" rIns="91440" bIns="91440" numCol="1" spcCol="38100" rtlCol="0" anchor="t">
                <a:noAutofit/>
              </a:bodyPr>
              <a:lstStyle/>
              <a:p>
                <a:pPr marL="0" marR="0" indent="0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Class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:</a:t>
                </a: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0" y="3566160"/>
                <a:ext cx="137369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/>
              <p:nvPr/>
            </p:nvSpPr>
            <p:spPr>
              <a:xfrm>
                <a:off x="1225057" y="5538078"/>
                <a:ext cx="1373692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Poisson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057" y="5538078"/>
                <a:ext cx="1373692" cy="718145"/>
              </a:xfrm>
              <a:prstGeom prst="rect">
                <a:avLst/>
              </a:prstGeom>
              <a:blipFill>
                <a:blip r:embed="rId8"/>
                <a:stretch>
                  <a:fillRect t="-3448" b="-1379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CB9C0-98B9-0448-AE67-8C6FE9B79C3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1911903" y="5271146"/>
            <a:ext cx="137243" cy="2669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2206076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/>
              <p:nvPr/>
            </p:nvSpPr>
            <p:spPr>
              <a:xfrm>
                <a:off x="1786964" y="3566656"/>
                <a:ext cx="142658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91440" tIns="91440" rIns="182880" bIns="91440" numCol="1" spcCol="38100" rtlCol="0" anchor="t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ℓ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64" y="3566656"/>
                <a:ext cx="142658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388956"/>
            <a:ext cx="4142005" cy="3588083"/>
            <a:chOff x="3767411" y="23889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4938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958134"/>
              <a:ext cx="3636347" cy="156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448683"/>
              <a:ext cx="3636347" cy="5250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939232"/>
              <a:ext cx="3636347" cy="10345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429781"/>
              <a:ext cx="3636347" cy="15439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920330"/>
              <a:ext cx="3636347" cy="20534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10032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388956"/>
              <a:ext cx="3631342" cy="25847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5CF058-A455-634F-B29F-4FA859275AB1}"/>
              </a:ext>
            </a:extLst>
          </p:cNvPr>
          <p:cNvGrpSpPr/>
          <p:nvPr/>
        </p:nvGrpSpPr>
        <p:grpSpPr>
          <a:xfrm>
            <a:off x="1900480" y="4484018"/>
            <a:ext cx="2372589" cy="1010699"/>
            <a:chOff x="1900480" y="4484018"/>
            <a:chExt cx="2372589" cy="101069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7467E-15C0-EB47-8E6D-9E5875F6C250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10A66D-37D0-7F4D-8133-2CA6B08A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48980C7-3134-F042-8A57-056070DCF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A289EEF-14D0-204C-914D-535ABD251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56A27AA-5EE5-244A-A7B0-CD3677AF43F8}"/>
                  </a:ext>
                </a:extLst>
              </p:cNvPr>
              <p:cNvGrpSpPr/>
              <p:nvPr/>
            </p:nvGrpSpPr>
            <p:grpSpPr>
              <a:xfrm>
                <a:off x="4373825" y="1991858"/>
                <a:ext cx="182880" cy="826193"/>
                <a:chOff x="2887354" y="2717073"/>
                <a:chExt cx="182880" cy="82619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510D134-49FC-8A4E-B9F2-18EBBCDF4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931511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8A0D928-E76F-0D4F-AB17-205C52A1BD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717073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73550767-49B8-7840-941A-E4EEB235A8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94B0A95-D51C-5741-8167-C22D5E44CD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C076D9B-A00F-1043-BB3F-CC1AFD89ED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0441553-CE6E-3B44-A2C9-AA1824ABEC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28302" y="2634505"/>
                <a:ext cx="182880" cy="182880"/>
              </a:xfrm>
              <a:prstGeom prst="ellipse">
                <a:avLst/>
              </a:prstGeom>
              <a:pattFill prst="openDmnd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1">
                    <a:lumMod val="40000"/>
                    <a:lumOff val="6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AD17D5-B306-8D49-9D54-B308ABC11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884A33D-6E25-EB4D-BC46-C91576791F57}"/>
                  </a:ext>
                </a:extLst>
              </p:cNvPr>
              <p:cNvGrpSpPr/>
              <p:nvPr/>
            </p:nvGrpSpPr>
            <p:grpSpPr>
              <a:xfrm>
                <a:off x="3674072" y="2420068"/>
                <a:ext cx="182880" cy="397317"/>
                <a:chOff x="2887354" y="3145949"/>
                <a:chExt cx="182880" cy="397317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DDA33D-3635-D54F-BE87-0A2D218A4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A8AD86D-7645-7246-8F4D-FEBA755510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6273B6-4530-1748-AE76-69FA976E9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D6F3C15-83E1-744A-9F2A-9DA4EB985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FAA86505-637C-4E44-8545-5EE14E2BBC22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49D95A-443C-554B-9A8B-62E68967B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049915B-3B02-9348-8306-60C75A5C17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6D8B2F9-3A05-4B42-9204-BBCE99699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8CDAC98-93B7-C64D-A564-F83E60404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Placeholder 2">
                <a:extLst>
                  <a:ext uri="{FF2B5EF4-FFF2-40B4-BE49-F238E27FC236}">
                    <a16:creationId xmlns:a16="http://schemas.microsoft.com/office/drawing/2014/main" id="{E17BD143-A1FB-C24F-A0A5-0D2B448DA6E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2904" y="1412349"/>
                <a:ext cx="8478004" cy="2107024"/>
              </a:xfrm>
            </p:spPr>
            <p:txBody>
              <a:bodyPr/>
              <a:lstStyle/>
              <a:p>
                <a:r>
                  <a:rPr lang="en-US" dirty="0"/>
                  <a:t>Large number of servers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large server needs</a:t>
                </a:r>
              </a:p>
              <a:p>
                <a:r>
                  <a:rPr lang="en-US" dirty="0"/>
                  <a:t>Heavy traffic by letting arrival rates approach limit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do not</a:t>
                </a:r>
              </a:p>
            </p:txBody>
          </p:sp>
        </mc:Choice>
        <mc:Fallback xmlns="">
          <p:sp>
            <p:nvSpPr>
              <p:cNvPr id="69" name="Text Placeholder 2">
                <a:extLst>
                  <a:ext uri="{FF2B5EF4-FFF2-40B4-BE49-F238E27FC236}">
                    <a16:creationId xmlns:a16="http://schemas.microsoft.com/office/drawing/2014/main" id="{E17BD143-A1FB-C24F-A0A5-0D2B448DA6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904" y="1412349"/>
                <a:ext cx="8478004" cy="2107024"/>
              </a:xfrm>
              <a:blipFill>
                <a:blip r:embed="rId10"/>
                <a:stretch>
                  <a:fillRect l="-749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4637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1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Slack capacity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and heavy traffic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EAEFD1-5D7D-6441-89A4-8E5B50A6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 t="-606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5BB36FBB-13FF-454A-B1D4-A418F42F383A}"/>
              </a:ext>
            </a:extLst>
          </p:cNvPr>
          <p:cNvSpPr>
            <a:spLocks noChangeAspect="1"/>
          </p:cNvSpPr>
          <p:nvPr/>
        </p:nvSpPr>
        <p:spPr>
          <a:xfrm>
            <a:off x="7909416" y="273745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955ACB-2C03-DD48-847C-48CD6249A59B}"/>
              </a:ext>
            </a:extLst>
          </p:cNvPr>
          <p:cNvSpPr>
            <a:spLocks noChangeAspect="1"/>
          </p:cNvSpPr>
          <p:nvPr/>
        </p:nvSpPr>
        <p:spPr>
          <a:xfrm>
            <a:off x="7909416" y="3246901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2BC554-8107-2442-9E18-75BF0997F6BA}"/>
              </a:ext>
            </a:extLst>
          </p:cNvPr>
          <p:cNvSpPr>
            <a:spLocks noChangeAspect="1"/>
          </p:cNvSpPr>
          <p:nvPr/>
        </p:nvSpPr>
        <p:spPr>
          <a:xfrm>
            <a:off x="7909416" y="3756352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0AE8F9-3418-F148-933C-80B93350B41B}"/>
              </a:ext>
            </a:extLst>
          </p:cNvPr>
          <p:cNvSpPr>
            <a:spLocks noChangeAspect="1"/>
          </p:cNvSpPr>
          <p:nvPr/>
        </p:nvSpPr>
        <p:spPr>
          <a:xfrm>
            <a:off x="7909416" y="4265803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C7CCCA-B6DD-B04D-A329-B8D4B6F05066}"/>
              </a:ext>
            </a:extLst>
          </p:cNvPr>
          <p:cNvSpPr>
            <a:spLocks noChangeAspect="1"/>
          </p:cNvSpPr>
          <p:nvPr/>
        </p:nvSpPr>
        <p:spPr>
          <a:xfrm>
            <a:off x="7909416" y="4775254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ED21F4-D580-E048-82AE-42BB49541A92}"/>
              </a:ext>
            </a:extLst>
          </p:cNvPr>
          <p:cNvSpPr>
            <a:spLocks noChangeAspect="1"/>
          </p:cNvSpPr>
          <p:nvPr/>
        </p:nvSpPr>
        <p:spPr>
          <a:xfrm>
            <a:off x="7909416" y="5284705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E06B77-793F-2442-9E79-0DD9023BC252}"/>
              </a:ext>
            </a:extLst>
          </p:cNvPr>
          <p:cNvSpPr>
            <a:spLocks noChangeAspect="1"/>
          </p:cNvSpPr>
          <p:nvPr/>
        </p:nvSpPr>
        <p:spPr>
          <a:xfrm>
            <a:off x="7909416" y="5794159"/>
            <a:ext cx="365760" cy="36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7281C01-0B1C-CA43-B066-39D00FAE5E71}"/>
                  </a:ext>
                </a:extLst>
              </p:cNvPr>
              <p:cNvSpPr txBox="1"/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Light"/>
                      </a:rPr>
                      <m:t>𝑛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servers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7281C01-0B1C-CA43-B066-39D00FAE5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23" y="6142589"/>
                <a:ext cx="1164935" cy="410369"/>
              </a:xfrm>
              <a:prstGeom prst="rect">
                <a:avLst/>
              </a:prstGeom>
              <a:blipFill>
                <a:blip r:embed="rId4"/>
                <a:stretch>
                  <a:fillRect l="-1075" t="-3030" r="-8602" b="-303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4B90E98E-E1A6-C04B-9F66-241917C6FAA9}"/>
              </a:ext>
            </a:extLst>
          </p:cNvPr>
          <p:cNvSpPr txBox="1"/>
          <p:nvPr/>
        </p:nvSpPr>
        <p:spPr>
          <a:xfrm>
            <a:off x="582962" y="4631563"/>
            <a:ext cx="108460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rgbClr val="000000"/>
                </a:solidFill>
                <a:sym typeface="Helvetica Light"/>
              </a:rPr>
              <a:t>K</a:t>
            </a:r>
            <a:r>
              <a:rPr lang="en-US" sz="2000" dirty="0">
                <a:solidFill>
                  <a:srgbClr val="000000"/>
                </a:solidFill>
                <a:sym typeface="Helvetica Light"/>
              </a:rPr>
              <a:t> jobs classes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87EB23A-245A-A448-A035-DF3066201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11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/>
              <p:nvPr/>
            </p:nvSpPr>
            <p:spPr>
              <a:xfrm>
                <a:off x="2451634" y="6038579"/>
                <a:ext cx="2631554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service time ~ </a:t>
                </a:r>
                <a:r>
                  <a:rPr lang="en-US" sz="2000" dirty="0"/>
                  <a:t>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0F2770-99E9-3145-8D7D-6BDE56CA6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34" y="6038579"/>
                <a:ext cx="2631554" cy="410369"/>
              </a:xfrm>
              <a:prstGeom prst="rect">
                <a:avLst/>
              </a:prstGeom>
              <a:blipFill>
                <a:blip r:embed="rId5"/>
                <a:stretch>
                  <a:fillRect l="-3349" t="-3030" r="-3349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/>
              <p:nvPr/>
            </p:nvSpPr>
            <p:spPr>
              <a:xfrm>
                <a:off x="2580341" y="5739955"/>
                <a:ext cx="21348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server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222C0-6828-A049-B826-1115BCFB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41" y="5739955"/>
                <a:ext cx="2134892" cy="410369"/>
              </a:xfrm>
              <a:prstGeom prst="rect">
                <a:avLst/>
              </a:prstGeom>
              <a:blipFill>
                <a:blip r:embed="rId6"/>
                <a:stretch>
                  <a:fillRect t="-6061" b="-27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412911-0C1E-9E49-A3C2-4606E23E2B30}"/>
              </a:ext>
            </a:extLst>
          </p:cNvPr>
          <p:cNvCxnSpPr>
            <a:cxnSpLocks/>
            <a:endCxn id="52" idx="4"/>
          </p:cNvCxnSpPr>
          <p:nvPr/>
        </p:nvCxnSpPr>
        <p:spPr>
          <a:xfrm flipH="1" flipV="1">
            <a:off x="3053378" y="5401001"/>
            <a:ext cx="83951" cy="33615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/>
              <p:nvPr/>
            </p:nvSpPr>
            <p:spPr>
              <a:xfrm>
                <a:off x="630400" y="3566160"/>
                <a:ext cx="137369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91440" rIns="91440" bIns="91440" numCol="1" spcCol="38100" rtlCol="0" anchor="t">
                <a:noAutofit/>
              </a:bodyPr>
              <a:lstStyle/>
              <a:p>
                <a:pPr marL="0" marR="0" indent="0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Class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:</a:t>
                </a: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FE51E1-4AFA-8642-B48C-1F6528F0F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0" y="3566160"/>
                <a:ext cx="137369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/>
              <p:nvPr/>
            </p:nvSpPr>
            <p:spPr>
              <a:xfrm>
                <a:off x="1225057" y="5538078"/>
                <a:ext cx="1373692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Poisson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CB0C0-299C-4147-AA22-92A4A67A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057" y="5538078"/>
                <a:ext cx="1373692" cy="718145"/>
              </a:xfrm>
              <a:prstGeom prst="rect">
                <a:avLst/>
              </a:prstGeom>
              <a:blipFill>
                <a:blip r:embed="rId8"/>
                <a:stretch>
                  <a:fillRect t="-3448" b="-155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CDCB9C0-98B9-0448-AE67-8C6FE9B79C3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1911903" y="5271146"/>
            <a:ext cx="137243" cy="2669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2DA45193-1775-AC4F-AA4F-6B9E6BA74567}"/>
              </a:ext>
            </a:extLst>
          </p:cNvPr>
          <p:cNvSpPr>
            <a:spLocks noChangeAspect="1"/>
          </p:cNvSpPr>
          <p:nvPr/>
        </p:nvSpPr>
        <p:spPr>
          <a:xfrm>
            <a:off x="7904411" y="2206076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/>
              <p:nvPr/>
            </p:nvSpPr>
            <p:spPr>
              <a:xfrm>
                <a:off x="1786964" y="3566656"/>
                <a:ext cx="1426582" cy="623054"/>
              </a:xfrm>
              <a:prstGeom prst="roundRect">
                <a:avLst>
                  <a:gd name="adj" fmla="val 12101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91440" tIns="91440" rIns="182880" bIns="91440" numCol="1" spcCol="38100" rtlCol="0" anchor="t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ℓ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36D97A5-ACB6-9D48-8E82-2169C0019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64" y="3566656"/>
                <a:ext cx="1426582" cy="623054"/>
              </a:xfrm>
              <a:prstGeom prst="roundRect">
                <a:avLst>
                  <a:gd name="adj" fmla="val 12101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D7809B-4F55-2145-B6CD-249D7416D86E}"/>
              </a:ext>
            </a:extLst>
          </p:cNvPr>
          <p:cNvGrpSpPr/>
          <p:nvPr/>
        </p:nvGrpSpPr>
        <p:grpSpPr>
          <a:xfrm>
            <a:off x="3767411" y="2388956"/>
            <a:ext cx="4142005" cy="3588083"/>
            <a:chOff x="3767411" y="2388956"/>
            <a:chExt cx="4142005" cy="3588083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2F2391-AF9B-7649-A3FD-64D5A060F3C7}"/>
                </a:ext>
              </a:extLst>
            </p:cNvPr>
            <p:cNvCxnSpPr>
              <a:cxnSpLocks/>
              <a:stCxn id="57" idx="6"/>
              <a:endCxn id="36" idx="2"/>
            </p:cNvCxnSpPr>
            <p:nvPr/>
          </p:nvCxnSpPr>
          <p:spPr>
            <a:xfrm>
              <a:off x="4273069" y="4973751"/>
              <a:ext cx="3636347" cy="493834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A515-8780-2241-A69D-7106B522289D}"/>
                </a:ext>
              </a:extLst>
            </p:cNvPr>
            <p:cNvCxnSpPr>
              <a:cxnSpLocks/>
              <a:stCxn id="57" idx="6"/>
              <a:endCxn id="35" idx="2"/>
            </p:cNvCxnSpPr>
            <p:nvPr/>
          </p:nvCxnSpPr>
          <p:spPr>
            <a:xfrm flipV="1">
              <a:off x="4273069" y="4958134"/>
              <a:ext cx="3636347" cy="15617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5F78C99-0060-3242-A375-6A2352CF6515}"/>
                </a:ext>
              </a:extLst>
            </p:cNvPr>
            <p:cNvCxnSpPr>
              <a:cxnSpLocks/>
              <a:stCxn id="57" idx="6"/>
              <a:endCxn id="34" idx="2"/>
            </p:cNvCxnSpPr>
            <p:nvPr/>
          </p:nvCxnSpPr>
          <p:spPr>
            <a:xfrm flipV="1">
              <a:off x="4273069" y="4448683"/>
              <a:ext cx="3636347" cy="52506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D80075-9476-B745-9F26-A0C4DA74A6B6}"/>
                </a:ext>
              </a:extLst>
            </p:cNvPr>
            <p:cNvCxnSpPr>
              <a:cxnSpLocks/>
              <a:stCxn id="57" idx="6"/>
              <a:endCxn id="33" idx="2"/>
            </p:cNvCxnSpPr>
            <p:nvPr/>
          </p:nvCxnSpPr>
          <p:spPr>
            <a:xfrm flipV="1">
              <a:off x="4273069" y="3939232"/>
              <a:ext cx="3636347" cy="1034519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8D97C1A-ADCE-DC48-9DD4-ABC2AD642F8A}"/>
                </a:ext>
              </a:extLst>
            </p:cNvPr>
            <p:cNvCxnSpPr>
              <a:cxnSpLocks/>
              <a:stCxn id="57" idx="6"/>
              <a:endCxn id="29" idx="2"/>
            </p:cNvCxnSpPr>
            <p:nvPr/>
          </p:nvCxnSpPr>
          <p:spPr>
            <a:xfrm flipV="1">
              <a:off x="4273069" y="3429781"/>
              <a:ext cx="3636347" cy="1543970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32313-39BF-7849-86AD-EF11C193F13D}"/>
                </a:ext>
              </a:extLst>
            </p:cNvPr>
            <p:cNvCxnSpPr>
              <a:cxnSpLocks/>
              <a:stCxn id="57" idx="6"/>
              <a:endCxn id="28" idx="2"/>
            </p:cNvCxnSpPr>
            <p:nvPr/>
          </p:nvCxnSpPr>
          <p:spPr>
            <a:xfrm flipV="1">
              <a:off x="4273069" y="2920330"/>
              <a:ext cx="3636347" cy="2053421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581581-92C8-514D-B994-5ADB828E3860}"/>
                </a:ext>
              </a:extLst>
            </p:cNvPr>
            <p:cNvCxnSpPr>
              <a:cxnSpLocks/>
              <a:stCxn id="57" idx="6"/>
              <a:endCxn id="37" idx="2"/>
            </p:cNvCxnSpPr>
            <p:nvPr/>
          </p:nvCxnSpPr>
          <p:spPr>
            <a:xfrm>
              <a:off x="4273069" y="4973751"/>
              <a:ext cx="3636347" cy="1003288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82CF19-86CE-0C41-B07C-C62895E46976}"/>
                </a:ext>
              </a:extLst>
            </p:cNvPr>
            <p:cNvCxnSpPr>
              <a:cxnSpLocks/>
              <a:stCxn id="57" idx="6"/>
              <a:endCxn id="59" idx="2"/>
            </p:cNvCxnSpPr>
            <p:nvPr/>
          </p:nvCxnSpPr>
          <p:spPr>
            <a:xfrm flipV="1">
              <a:off x="4273069" y="2388956"/>
              <a:ext cx="3631342" cy="2584795"/>
            </a:xfrm>
            <a:prstGeom prst="line">
              <a:avLst/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E1EEB0B-F9E3-CB48-A799-25062EE8C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411" y="4720922"/>
              <a:ext cx="505658" cy="50565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5CF058-A455-634F-B29F-4FA859275AB1}"/>
              </a:ext>
            </a:extLst>
          </p:cNvPr>
          <p:cNvGrpSpPr/>
          <p:nvPr/>
        </p:nvGrpSpPr>
        <p:grpSpPr>
          <a:xfrm>
            <a:off x="1900480" y="4484018"/>
            <a:ext cx="2372589" cy="1010699"/>
            <a:chOff x="1900480" y="4484018"/>
            <a:chExt cx="2372589" cy="101069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7467E-15C0-EB47-8E6D-9E5875F6C250}"/>
                </a:ext>
              </a:extLst>
            </p:cNvPr>
            <p:cNvGrpSpPr/>
            <p:nvPr/>
          </p:nvGrpSpPr>
          <p:grpSpPr>
            <a:xfrm>
              <a:off x="1900480" y="4484018"/>
              <a:ext cx="2372589" cy="1010699"/>
              <a:chOff x="2280995" y="1900888"/>
              <a:chExt cx="2372589" cy="10106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10A66D-37D0-7F4D-8133-2CA6B08A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1912097"/>
                <a:ext cx="137593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48980C7-3134-F042-8A57-056070DCF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7645" y="2903553"/>
                <a:ext cx="1373691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A289EEF-14D0-204C-914D-535ABD251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44986" y="1902095"/>
                <a:ext cx="0" cy="10058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56A27AA-5EE5-244A-A7B0-CD3677AF43F8}"/>
                  </a:ext>
                </a:extLst>
              </p:cNvPr>
              <p:cNvGrpSpPr/>
              <p:nvPr/>
            </p:nvGrpSpPr>
            <p:grpSpPr>
              <a:xfrm>
                <a:off x="4373825" y="1991858"/>
                <a:ext cx="182880" cy="826193"/>
                <a:chOff x="2887354" y="2717073"/>
                <a:chExt cx="182880" cy="82619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510D134-49FC-8A4E-B9F2-18EBBCDF4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931511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8A0D928-E76F-0D4F-AB17-205C52A1BD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2717073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73550767-49B8-7840-941A-E4EEB235A8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94B0A95-D51C-5741-8167-C22D5E44CD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wave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rgbClr val="92D050"/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C076D9B-A00F-1043-BB3F-CC1AFD89ED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98911" y="1900888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0441553-CE6E-3B44-A2C9-AA1824ABEC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28302" y="2634505"/>
                <a:ext cx="182880" cy="182880"/>
              </a:xfrm>
              <a:prstGeom prst="ellipse">
                <a:avLst/>
              </a:prstGeom>
              <a:pattFill prst="openDmnd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1">
                    <a:lumMod val="40000"/>
                    <a:lumOff val="6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BAD17D5-B306-8D49-9D54-B308ABC11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43311" y="1905422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884A33D-6E25-EB4D-BC46-C91576791F57}"/>
                  </a:ext>
                </a:extLst>
              </p:cNvPr>
              <p:cNvGrpSpPr/>
              <p:nvPr/>
            </p:nvGrpSpPr>
            <p:grpSpPr>
              <a:xfrm>
                <a:off x="3674072" y="2420068"/>
                <a:ext cx="182880" cy="397317"/>
                <a:chOff x="2887354" y="3145949"/>
                <a:chExt cx="182880" cy="397317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DDA33D-3635-D54F-BE87-0A2D218A4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145949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A8AD86D-7645-7246-8F4D-FEBA755510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87354" y="3360386"/>
                  <a:ext cx="182880" cy="182880"/>
                </a:xfrm>
                <a:prstGeom prst="ellipse">
                  <a:avLst/>
                </a:prstGeom>
                <a:pattFill prst="pct5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accent4">
                      <a:lumMod val="60000"/>
                      <a:lumOff val="40000"/>
                    </a:schemeClr>
                  </a:bgClr>
                </a:pattFill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no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36273B6-4530-1748-AE76-69FA976E9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94061" y="1905747"/>
                <a:ext cx="0" cy="10058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D6F3C15-83E1-744A-9F2A-9DA4EB985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0741" y="2671567"/>
                <a:ext cx="146304" cy="146304"/>
              </a:xfrm>
              <a:prstGeom prst="ellipse">
                <a:avLst/>
              </a:prstGeom>
              <a:pattFill prst="ltDn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accent5">
                    <a:lumMod val="60000"/>
                    <a:lumOff val="40000"/>
                  </a:schemeClr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Right Arrow 52">
                <a:extLst>
                  <a:ext uri="{FF2B5EF4-FFF2-40B4-BE49-F238E27FC236}">
                    <a16:creationId xmlns:a16="http://schemas.microsoft.com/office/drawing/2014/main" id="{FAA86505-637C-4E44-8545-5EE14E2BBC22}"/>
                  </a:ext>
                </a:extLst>
              </p:cNvPr>
              <p:cNvSpPr/>
              <p:nvPr/>
            </p:nvSpPr>
            <p:spPr>
              <a:xfrm>
                <a:off x="2280995" y="2061862"/>
                <a:ext cx="698269" cy="623054"/>
              </a:xfrm>
              <a:prstGeom prst="rightArrow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49D95A-443C-554B-9A8B-62E68967B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91508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049915B-3B02-9348-8306-60C75A5C17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74528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6D8B2F9-3A05-4B42-9204-BBCE99699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5084892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8CDAC98-93B7-C64D-A564-F83E60404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0226" y="4575477"/>
              <a:ext cx="146304" cy="146304"/>
            </a:xfrm>
            <a:prstGeom prst="ellipse">
              <a:avLst/>
            </a:prstGeom>
            <a:pattFill prst="ltDnDiag">
              <a:fgClr>
                <a:schemeClr val="tx1">
                  <a:lumMod val="65000"/>
                  <a:lumOff val="35000"/>
                </a:schemeClr>
              </a:fgClr>
              <a:bgClr>
                <a:schemeClr val="accent5">
                  <a:lumMod val="60000"/>
                  <a:lumOff val="40000"/>
                </a:schemeClr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00AFF0-0B88-1746-A173-9BC31B73AF53}"/>
                  </a:ext>
                </a:extLst>
              </p:cNvPr>
              <p:cNvSpPr txBox="1"/>
              <p:nvPr/>
            </p:nvSpPr>
            <p:spPr>
              <a:xfrm>
                <a:off x="8695405" y="2329293"/>
                <a:ext cx="3330692" cy="900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 hangingPunct="0"/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ℓ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 </m:t>
                        </m:r>
                      </m:den>
                    </m:f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: # servers (avg)</a:t>
                </a:r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 </a:t>
                </a: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workin</a:t>
                </a: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g 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        on class 1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00AFF0-0B88-1746-A173-9BC31B73A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405" y="2329293"/>
                <a:ext cx="3330692" cy="900311"/>
              </a:xfrm>
              <a:prstGeom prst="rect">
                <a:avLst/>
              </a:prstGeom>
              <a:blipFill>
                <a:blip r:embed="rId11"/>
                <a:stretch>
                  <a:fillRect l="-380" r="-4183" b="-125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70A4284-8B9C-CD49-8D86-15F56DF951CF}"/>
              </a:ext>
            </a:extLst>
          </p:cNvPr>
          <p:cNvGrpSpPr/>
          <p:nvPr/>
        </p:nvGrpSpPr>
        <p:grpSpPr>
          <a:xfrm>
            <a:off x="7504823" y="1111460"/>
            <a:ext cx="3110648" cy="865493"/>
            <a:chOff x="7441056" y="1007012"/>
            <a:chExt cx="3110648" cy="8654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25F05D3-D396-494F-B1AA-B19BB106E1AE}"/>
                    </a:ext>
                  </a:extLst>
                </p:cNvPr>
                <p:cNvSpPr txBox="1"/>
                <p:nvPr/>
              </p:nvSpPr>
              <p:spPr>
                <a:xfrm>
                  <a:off x="8087290" y="1073204"/>
                  <a:ext cx="2464414" cy="71814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solidFill>
                        <a:schemeClr val="accent5"/>
                      </a:solidFill>
                      <a:sym typeface="Helvetica Light"/>
                    </a:rPr>
                    <a:t>s</a:t>
                  </a:r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5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erver-need </a:t>
                  </a:r>
                  <a14:m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Light"/>
                        </a:rPr>
                        <m:t>×</m:t>
                      </m:r>
                    </m:oMath>
                  </a14:m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5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 time</a:t>
                  </a:r>
                </a:p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0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5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(“CPU-hours”)</a:t>
                  </a: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25F05D3-D396-494F-B1AA-B19BB106E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90" y="1073204"/>
                  <a:ext cx="2464414" cy="718145"/>
                </a:xfrm>
                <a:prstGeom prst="rect">
                  <a:avLst/>
                </a:prstGeom>
                <a:blipFill>
                  <a:blip r:embed="rId12"/>
                  <a:stretch>
                    <a:fillRect t="-1754" b="-140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40F69CE-5FAD-EF43-80F5-A68AF879A407}"/>
                    </a:ext>
                  </a:extLst>
                </p:cNvPr>
                <p:cNvSpPr txBox="1"/>
                <p:nvPr/>
              </p:nvSpPr>
              <p:spPr>
                <a:xfrm>
                  <a:off x="7441056" y="1007012"/>
                  <a:ext cx="522194" cy="86549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algn="ctr" defTabSz="82550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40F69CE-5FAD-EF43-80F5-A68AF879A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056" y="1007012"/>
                  <a:ext cx="522194" cy="865493"/>
                </a:xfrm>
                <a:prstGeom prst="rect">
                  <a:avLst/>
                </a:prstGeom>
                <a:blipFill>
                  <a:blip r:embed="rId13"/>
                  <a:stretch>
                    <a:fillRect l="-19048" b="-1159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7" name="Right Brace 86">
            <a:extLst>
              <a:ext uri="{FF2B5EF4-FFF2-40B4-BE49-F238E27FC236}">
                <a16:creationId xmlns:a16="http://schemas.microsoft.com/office/drawing/2014/main" id="{5FA6CD99-71C0-3A4B-8F58-859C9C239CC0}"/>
              </a:ext>
            </a:extLst>
          </p:cNvPr>
          <p:cNvSpPr/>
          <p:nvPr/>
        </p:nvSpPr>
        <p:spPr>
          <a:xfrm>
            <a:off x="8411764" y="2206076"/>
            <a:ext cx="241016" cy="897134"/>
          </a:xfrm>
          <a:prstGeom prst="rightBrace">
            <a:avLst>
              <a:gd name="adj1" fmla="val 37200"/>
              <a:gd name="adj2" fmla="val 50000"/>
            </a:avLst>
          </a:prstGeom>
          <a:noFill/>
          <a:ln w="190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0" name="Right Brace 89">
            <a:extLst>
              <a:ext uri="{FF2B5EF4-FFF2-40B4-BE49-F238E27FC236}">
                <a16:creationId xmlns:a16="http://schemas.microsoft.com/office/drawing/2014/main" id="{5ACF2FC7-5C82-EA43-A5DC-BA3AC6672FC6}"/>
              </a:ext>
            </a:extLst>
          </p:cNvPr>
          <p:cNvSpPr/>
          <p:nvPr/>
        </p:nvSpPr>
        <p:spPr>
          <a:xfrm>
            <a:off x="8415378" y="3243371"/>
            <a:ext cx="241016" cy="1388191"/>
          </a:xfrm>
          <a:prstGeom prst="rightBrace">
            <a:avLst>
              <a:gd name="adj1" fmla="val 37200"/>
              <a:gd name="adj2" fmla="val 50000"/>
            </a:avLst>
          </a:prstGeom>
          <a:noFill/>
          <a:ln w="190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E512BA-D0AF-7E4F-A640-53E335D678B6}"/>
              </a:ext>
            </a:extLst>
          </p:cNvPr>
          <p:cNvSpPr txBox="1"/>
          <p:nvPr/>
        </p:nvSpPr>
        <p:spPr>
          <a:xfrm>
            <a:off x="8346011" y="4679677"/>
            <a:ext cx="3590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Helvetica Light"/>
              </a:rPr>
              <a:t>…</a:t>
            </a:r>
          </a:p>
        </p:txBody>
      </p:sp>
      <p:sp>
        <p:nvSpPr>
          <p:cNvPr id="92" name="Right Brace 91">
            <a:extLst>
              <a:ext uri="{FF2B5EF4-FFF2-40B4-BE49-F238E27FC236}">
                <a16:creationId xmlns:a16="http://schemas.microsoft.com/office/drawing/2014/main" id="{E6E53B84-6F66-2041-8ECB-B043FBEE9A00}"/>
              </a:ext>
            </a:extLst>
          </p:cNvPr>
          <p:cNvSpPr/>
          <p:nvPr/>
        </p:nvSpPr>
        <p:spPr>
          <a:xfrm>
            <a:off x="8411764" y="5284706"/>
            <a:ext cx="241016" cy="875214"/>
          </a:xfrm>
          <a:prstGeom prst="rightBrace">
            <a:avLst>
              <a:gd name="adj1" fmla="val 37200"/>
              <a:gd name="adj2" fmla="val 50000"/>
            </a:avLst>
          </a:prstGeom>
          <a:noFill/>
          <a:ln w="19050" cap="flat">
            <a:solidFill>
              <a:schemeClr val="accent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3230B27-11C0-0F4C-B731-77C8C9B02000}"/>
                  </a:ext>
                </a:extLst>
              </p:cNvPr>
              <p:cNvSpPr txBox="1"/>
              <p:nvPr/>
            </p:nvSpPr>
            <p:spPr>
              <a:xfrm>
                <a:off x="8695405" y="3613965"/>
                <a:ext cx="3330692" cy="899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 hangingPunct="0"/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Helvetica Light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  <m:t>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Helvetica Light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sym typeface="Helvetica Light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Helvetica Light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sym typeface="Helvetica Light"/>
                          </a:rPr>
                          <m:t> </m:t>
                        </m:r>
                      </m:den>
                    </m:f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: # servers (avg)</a:t>
                </a:r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 </a:t>
                </a: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workin</a:t>
                </a: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g 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        on class 2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3230B27-11C0-0F4C-B731-77C8C9B02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405" y="3613965"/>
                <a:ext cx="3330692" cy="899221"/>
              </a:xfrm>
              <a:prstGeom prst="rect">
                <a:avLst/>
              </a:prstGeom>
              <a:blipFill>
                <a:blip r:embed="rId14"/>
                <a:stretch>
                  <a:fillRect l="-380" r="-4183" b="-126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2616DE7-3F7B-324E-A1DE-619BB9A35F74}"/>
                  </a:ext>
                </a:extLst>
              </p:cNvPr>
              <p:cNvSpPr txBox="1"/>
              <p:nvPr/>
            </p:nvSpPr>
            <p:spPr>
              <a:xfrm>
                <a:off x="8695405" y="5278283"/>
                <a:ext cx="3330692" cy="9112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 hangingPunct="0"/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Light"/>
                      </a:rPr>
                      <m:t>𝛿</m:t>
                    </m:r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Light"/>
                      </a:rPr>
                      <m:t>=</m:t>
                    </m:r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Light"/>
                      </a:rPr>
                      <m:t>𝑛</m:t>
                    </m:r>
                    <m:r>
                      <a:rPr kumimoji="0" lang="en-US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Light"/>
                      </a:rPr>
                      <m:t> 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Light"/>
                          </a:rPr>
                          <m:t>=1</m:t>
                        </m:r>
                      </m:sub>
                      <m:sup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Light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Helvetica Light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Helvetica Light"/>
                              </a:rPr>
                              <m:t> </m:t>
                            </m:r>
                          </m:den>
                        </m:f>
                      </m:e>
                    </m:nary>
                  </m:oMath>
                </a14:m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sym typeface="Helvetica Light"/>
                  </a:rPr>
                  <a:t> </a:t>
                </a:r>
              </a:p>
              <a:p>
                <a:pPr defTabSz="825500" hangingPunct="0"/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sym typeface="Helvetica Light"/>
                  </a:rPr>
                  <a:t>slack capacity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2616DE7-3F7B-324E-A1DE-619BB9A35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405" y="5278283"/>
                <a:ext cx="3330692" cy="911211"/>
              </a:xfrm>
              <a:prstGeom prst="rect">
                <a:avLst/>
              </a:prstGeom>
              <a:blipFill>
                <a:blip r:embed="rId15"/>
                <a:stretch>
                  <a:fillRect l="-3042" t="-41667" b="-3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Placeholder 2">
                <a:extLst>
                  <a:ext uri="{FF2B5EF4-FFF2-40B4-BE49-F238E27FC236}">
                    <a16:creationId xmlns:a16="http://schemas.microsoft.com/office/drawing/2014/main" id="{7D6F3939-3B9A-9445-8D1E-ABF305C4D70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2904" y="1412349"/>
                <a:ext cx="6961919" cy="210702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−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Expected number of idle servers</a:t>
                </a:r>
              </a:p>
              <a:p>
                <a:r>
                  <a:rPr lang="en-US" dirty="0"/>
                  <a:t>Heavy traffic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9" name="Text Placeholder 2">
                <a:extLst>
                  <a:ext uri="{FF2B5EF4-FFF2-40B4-BE49-F238E27FC236}">
                    <a16:creationId xmlns:a16="http://schemas.microsoft.com/office/drawing/2014/main" id="{7D6F3939-3B9A-9445-8D1E-ABF305C4D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904" y="1412349"/>
                <a:ext cx="6961919" cy="2107024"/>
              </a:xfrm>
              <a:blipFill>
                <a:blip r:embed="rId16"/>
                <a:stretch>
                  <a:fillRect l="-911" t="-22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7680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7" grpId="0" animBg="1"/>
      <p:bldP spid="90" grpId="0" animBg="1"/>
      <p:bldP spid="91" grpId="0"/>
      <p:bldP spid="92" grpId="0" animBg="1"/>
      <p:bldP spid="96" grpId="0"/>
      <p:bldP spid="99" grpId="0"/>
      <p:bldP spid="69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353519C3-7481-E41B-4C12-4E135E14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262" y="1188719"/>
            <a:ext cx="3836638" cy="28795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67C353-8A16-C44A-B058-528DCC350CDE}"/>
              </a:ext>
            </a:extLst>
          </p:cNvPr>
          <p:cNvSpPr/>
          <p:nvPr/>
        </p:nvSpPr>
        <p:spPr>
          <a:xfrm>
            <a:off x="3479154" y="2573551"/>
            <a:ext cx="3656588" cy="2437976"/>
          </a:xfrm>
          <a:custGeom>
            <a:avLst/>
            <a:gdLst>
              <a:gd name="connsiteX0" fmla="*/ 0 w 3656588"/>
              <a:gd name="connsiteY0" fmla="*/ 0 h 2437976"/>
              <a:gd name="connsiteX1" fmla="*/ 3656588 w 3656588"/>
              <a:gd name="connsiteY1" fmla="*/ 0 h 2437976"/>
              <a:gd name="connsiteX2" fmla="*/ 3656588 w 3656588"/>
              <a:gd name="connsiteY2" fmla="*/ 2437976 h 2437976"/>
              <a:gd name="connsiteX3" fmla="*/ 0 w 3656588"/>
              <a:gd name="connsiteY3" fmla="*/ 2437976 h 2437976"/>
              <a:gd name="connsiteX4" fmla="*/ 0 w 3656588"/>
              <a:gd name="connsiteY4" fmla="*/ 0 h 2437976"/>
              <a:gd name="connsiteX0" fmla="*/ 0 w 3656588"/>
              <a:gd name="connsiteY0" fmla="*/ 0 h 2437976"/>
              <a:gd name="connsiteX1" fmla="*/ 3656588 w 3656588"/>
              <a:gd name="connsiteY1" fmla="*/ 0 h 2437976"/>
              <a:gd name="connsiteX2" fmla="*/ 0 w 3656588"/>
              <a:gd name="connsiteY2" fmla="*/ 2437976 h 2437976"/>
              <a:gd name="connsiteX3" fmla="*/ 0 w 3656588"/>
              <a:gd name="connsiteY3" fmla="*/ 0 h 243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588" h="2437976">
                <a:moveTo>
                  <a:pt x="0" y="0"/>
                </a:moveTo>
                <a:lnTo>
                  <a:pt x="3656588" y="0"/>
                </a:lnTo>
                <a:lnTo>
                  <a:pt x="0" y="2437976"/>
                </a:ln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tx1"/>
            </a:fgClr>
            <a:bgClr>
              <a:schemeClr val="bg1">
                <a:lumMod val="95000"/>
              </a:schemeClr>
            </a:bgClr>
          </a:pattFill>
          <a:ln w="25400">
            <a:noFill/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43BEA3-0838-844E-B344-B041A4DCAAF5}"/>
              </a:ext>
            </a:extLst>
          </p:cNvPr>
          <p:cNvSpPr/>
          <p:nvPr/>
        </p:nvSpPr>
        <p:spPr>
          <a:xfrm>
            <a:off x="3479153" y="2567864"/>
            <a:ext cx="3656588" cy="2437976"/>
          </a:xfrm>
          <a:custGeom>
            <a:avLst/>
            <a:gdLst>
              <a:gd name="connsiteX0" fmla="*/ 0 w 3656588"/>
              <a:gd name="connsiteY0" fmla="*/ 0 h 2437976"/>
              <a:gd name="connsiteX1" fmla="*/ 3656588 w 3656588"/>
              <a:gd name="connsiteY1" fmla="*/ 0 h 2437976"/>
              <a:gd name="connsiteX2" fmla="*/ 3656588 w 3656588"/>
              <a:gd name="connsiteY2" fmla="*/ 2437976 h 2437976"/>
              <a:gd name="connsiteX3" fmla="*/ 0 w 3656588"/>
              <a:gd name="connsiteY3" fmla="*/ 2437976 h 2437976"/>
              <a:gd name="connsiteX4" fmla="*/ 0 w 3656588"/>
              <a:gd name="connsiteY4" fmla="*/ 0 h 2437976"/>
              <a:gd name="connsiteX0" fmla="*/ 0 w 3656588"/>
              <a:gd name="connsiteY0" fmla="*/ 2437976 h 2437976"/>
              <a:gd name="connsiteX1" fmla="*/ 3656588 w 3656588"/>
              <a:gd name="connsiteY1" fmla="*/ 0 h 2437976"/>
              <a:gd name="connsiteX2" fmla="*/ 3656588 w 3656588"/>
              <a:gd name="connsiteY2" fmla="*/ 2437976 h 2437976"/>
              <a:gd name="connsiteX3" fmla="*/ 0 w 3656588"/>
              <a:gd name="connsiteY3" fmla="*/ 2437976 h 243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588" h="2437976">
                <a:moveTo>
                  <a:pt x="0" y="2437976"/>
                </a:moveTo>
                <a:lnTo>
                  <a:pt x="3656588" y="0"/>
                </a:lnTo>
                <a:lnTo>
                  <a:pt x="3656588" y="2437976"/>
                </a:lnTo>
                <a:lnTo>
                  <a:pt x="0" y="2437976"/>
                </a:lnTo>
                <a:close/>
              </a:path>
            </a:pathLst>
          </a:custGeom>
          <a:noFill/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CBC236-97FB-FF4A-8874-4431E41E61DC}"/>
                  </a:ext>
                </a:extLst>
              </p:cNvPr>
              <p:cNvSpPr txBox="1"/>
              <p:nvPr/>
            </p:nvSpPr>
            <p:spPr>
              <a:xfrm>
                <a:off x="4360847" y="5146053"/>
                <a:ext cx="3131644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l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oad scaling with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𝑛</m:t>
                    </m:r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CBC236-97FB-FF4A-8874-4431E41E6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847" y="5146053"/>
                <a:ext cx="3131644" cy="471924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237081-22E5-174B-862D-06FCE3F8B4E6}"/>
              </a:ext>
            </a:extLst>
          </p:cNvPr>
          <p:cNvCxnSpPr>
            <a:cxnSpLocks/>
          </p:cNvCxnSpPr>
          <p:nvPr/>
        </p:nvCxnSpPr>
        <p:spPr>
          <a:xfrm flipV="1">
            <a:off x="3479154" y="1692072"/>
            <a:ext cx="0" cy="3319455"/>
          </a:xfrm>
          <a:prstGeom prst="line">
            <a:avLst/>
          </a:prstGeom>
          <a:noFill/>
          <a:ln w="508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266AC68-77A6-9D4F-86DB-47191DE484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12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35EAB1-BD03-F04B-82E2-D076CCD7A788}"/>
                  </a:ext>
                </a:extLst>
              </p:cNvPr>
              <p:cNvSpPr txBox="1"/>
              <p:nvPr/>
            </p:nvSpPr>
            <p:spPr>
              <a:xfrm>
                <a:off x="1300863" y="3602996"/>
                <a:ext cx="1987231" cy="8412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s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erver-needs scaling with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Light"/>
                      </a:rPr>
                      <m:t>𝑛</m:t>
                    </m:r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35EAB1-BD03-F04B-82E2-D076CCD7A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863" y="3602996"/>
                <a:ext cx="1987231" cy="841256"/>
              </a:xfrm>
              <a:prstGeom prst="rect">
                <a:avLst/>
              </a:prstGeom>
              <a:blipFill>
                <a:blip r:embed="rId5"/>
                <a:stretch>
                  <a:fillRect l="-6369" t="-4478" r="-8917" b="-164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9E0528A-18BB-5646-A1A2-D211E5C36967}"/>
              </a:ext>
            </a:extLst>
          </p:cNvPr>
          <p:cNvGrpSpPr/>
          <p:nvPr/>
        </p:nvGrpSpPr>
        <p:grpSpPr>
          <a:xfrm>
            <a:off x="2203039" y="2719451"/>
            <a:ext cx="487741" cy="826193"/>
            <a:chOff x="1596296" y="1677490"/>
            <a:chExt cx="487741" cy="82619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3D677B-2F8B-3B40-BBB4-3BE646FB5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296" y="1891928"/>
              <a:ext cx="182880" cy="18288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8CE857C-9097-8A41-9BF2-0CE370CB70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296" y="1677490"/>
              <a:ext cx="182880" cy="18288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DB1B4B1-E996-B742-9D46-59B59E6E3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296" y="2106366"/>
              <a:ext cx="182880" cy="18288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69D1D20-1CEB-074A-BCD4-1F314A839A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296" y="2320803"/>
              <a:ext cx="182880" cy="182880"/>
            </a:xfrm>
            <a:prstGeom prst="ellipse">
              <a:avLst/>
            </a:prstGeom>
            <a:pattFill prst="wave">
              <a:fgClr>
                <a:schemeClr val="tx1">
                  <a:lumMod val="65000"/>
                  <a:lumOff val="35000"/>
                </a:schemeClr>
              </a:fgClr>
              <a:bgClr>
                <a:srgbClr val="92D050"/>
              </a:bgClr>
            </a:patt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BE8D224F-76C2-A04B-8626-670D41FB7933}"/>
                </a:ext>
              </a:extLst>
            </p:cNvPr>
            <p:cNvSpPr/>
            <p:nvPr/>
          </p:nvSpPr>
          <p:spPr>
            <a:xfrm>
              <a:off x="1843021" y="1680722"/>
              <a:ext cx="241016" cy="822961"/>
            </a:xfrm>
            <a:prstGeom prst="rightBrace">
              <a:avLst>
                <a:gd name="adj1" fmla="val 37200"/>
                <a:gd name="adj2" fmla="val 50000"/>
              </a:avLst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0FF6948-3D01-2646-932C-BF7BB8C1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(simplified)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500405-FFA6-CA41-A299-2936F54EE1E9}"/>
                  </a:ext>
                </a:extLst>
              </p:cNvPr>
              <p:cNvSpPr txBox="1"/>
              <p:nvPr/>
            </p:nvSpPr>
            <p:spPr>
              <a:xfrm>
                <a:off x="7608375" y="5197349"/>
                <a:ext cx="2255080" cy="8412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slack capacity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𝛿</m:t>
                    </m:r>
                    <m:r>
                      <a:rPr kumimoji="0" lang="en-US" sz="2400" b="0" i="0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=</m:t>
                    </m:r>
                    <m:sSup>
                      <m:sSupPr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pPr>
                      <m:e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𝑛</m:t>
                        </m:r>
                      </m:e>
                      <m:sup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sup>
                    </m:sSup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500405-FFA6-CA41-A299-2936F54EE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375" y="5197349"/>
                <a:ext cx="2255080" cy="841256"/>
              </a:xfrm>
              <a:prstGeom prst="rect">
                <a:avLst/>
              </a:prstGeom>
              <a:blipFill>
                <a:blip r:embed="rId6"/>
                <a:stretch>
                  <a:fillRect l="-2247" t="-4478" r="-168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83BDFD-F9EE-2E40-A965-F0F99E076D31}"/>
                  </a:ext>
                </a:extLst>
              </p:cNvPr>
              <p:cNvSpPr txBox="1"/>
              <p:nvPr/>
            </p:nvSpPr>
            <p:spPr>
              <a:xfrm>
                <a:off x="8526299" y="4733338"/>
                <a:ext cx="427681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𝛼</m:t>
                      </m:r>
                    </m:oMath>
                  </m:oMathPara>
                </a14:m>
                <a:endParaRPr kumimoji="0" lang="en-US" sz="2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83BDFD-F9EE-2E40-A965-F0F99E076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299" y="4733338"/>
                <a:ext cx="427681" cy="533479"/>
              </a:xfrm>
              <a:prstGeom prst="rect">
                <a:avLst/>
              </a:prstGeom>
              <a:blipFill>
                <a:blip r:embed="rId7"/>
                <a:stretch>
                  <a:fillRect l="-857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7362BCE-A3E2-7A44-BB1D-FF87A945366B}"/>
                  </a:ext>
                </a:extLst>
              </p:cNvPr>
              <p:cNvSpPr/>
              <p:nvPr/>
            </p:nvSpPr>
            <p:spPr>
              <a:xfrm>
                <a:off x="548640" y="1491425"/>
                <a:ext cx="2739454" cy="905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max server need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d>
                  </m:oMath>
                </a14:m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7362BCE-A3E2-7A44-BB1D-FF87A9453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91425"/>
                <a:ext cx="2739454" cy="905441"/>
              </a:xfrm>
              <a:prstGeom prst="rect">
                <a:avLst/>
              </a:prstGeom>
              <a:blipFill>
                <a:blip r:embed="rId8"/>
                <a:stretch>
                  <a:fillRect t="-5556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65A07D-108F-744D-AF7D-0D9B9229B285}"/>
                  </a:ext>
                </a:extLst>
              </p:cNvPr>
              <p:cNvSpPr txBox="1"/>
              <p:nvPr/>
            </p:nvSpPr>
            <p:spPr>
              <a:xfrm>
                <a:off x="3622334" y="1373700"/>
                <a:ext cx="400751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65A07D-108F-744D-AF7D-0D9B9229B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334" y="1373700"/>
                <a:ext cx="400751" cy="533479"/>
              </a:xfrm>
              <a:prstGeom prst="rect">
                <a:avLst/>
              </a:prstGeom>
              <a:blipFill>
                <a:blip r:embed="rId9"/>
                <a:stretch>
                  <a:fillRect l="-15625" b="-465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1FADC7C-3B15-3B4E-9315-2F0B71994CC5}"/>
              </a:ext>
            </a:extLst>
          </p:cNvPr>
          <p:cNvGrpSpPr/>
          <p:nvPr/>
        </p:nvGrpSpPr>
        <p:grpSpPr>
          <a:xfrm>
            <a:off x="3117107" y="2385409"/>
            <a:ext cx="408304" cy="410369"/>
            <a:chOff x="8488561" y="4722696"/>
            <a:chExt cx="408304" cy="410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52E2ED9-A583-4B4F-861A-E548B01B6975}"/>
                    </a:ext>
                  </a:extLst>
                </p:cNvPr>
                <p:cNvSpPr txBox="1"/>
                <p:nvPr/>
              </p:nvSpPr>
              <p:spPr>
                <a:xfrm>
                  <a:off x="8488561" y="4722696"/>
                  <a:ext cx="315791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1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4C1D6CD-55C7-6B47-901A-727B701C0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8561" y="4722696"/>
                  <a:ext cx="315791" cy="410369"/>
                </a:xfrm>
                <a:prstGeom prst="rect">
                  <a:avLst/>
                </a:prstGeom>
                <a:blipFill>
                  <a:blip r:embed="rId13"/>
                  <a:stretch>
                    <a:fillRect l="-1153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4349945-7BDD-754C-8124-3AA9E32F992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842001" y="4855974"/>
              <a:ext cx="0" cy="109728"/>
            </a:xfrm>
            <a:prstGeom prst="line">
              <a:avLst/>
            </a:prstGeom>
            <a:noFill/>
            <a:ln w="508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C286AC-563E-7C47-9CCB-EB2DFF351B10}"/>
                  </a:ext>
                </a:extLst>
              </p:cNvPr>
              <p:cNvSpPr txBox="1"/>
              <p:nvPr/>
            </p:nvSpPr>
            <p:spPr>
              <a:xfrm>
                <a:off x="3478864" y="2795151"/>
                <a:ext cx="1987231" cy="8412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𝛾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≥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𝛼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sym typeface="Helvetica Light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very heavy</a:t>
                </a:r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C286AC-563E-7C47-9CCB-EB2DFF351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64" y="2795151"/>
                <a:ext cx="1987231" cy="841256"/>
              </a:xfrm>
              <a:prstGeom prst="rect">
                <a:avLst/>
              </a:prstGeom>
              <a:blipFill>
                <a:blip r:embed="rId14"/>
                <a:stretch>
                  <a:fillRect b="-164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01FB36-9A3F-744F-810E-D5CDEDC73666}"/>
              </a:ext>
            </a:extLst>
          </p:cNvPr>
          <p:cNvCxnSpPr>
            <a:cxnSpLocks/>
          </p:cNvCxnSpPr>
          <p:nvPr/>
        </p:nvCxnSpPr>
        <p:spPr>
          <a:xfrm>
            <a:off x="3479154" y="5011699"/>
            <a:ext cx="4895031" cy="0"/>
          </a:xfrm>
          <a:prstGeom prst="line">
            <a:avLst/>
          </a:prstGeom>
          <a:noFill/>
          <a:ln w="508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400000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939759-176F-934D-98E3-EC93AF04556B}"/>
              </a:ext>
            </a:extLst>
          </p:cNvPr>
          <p:cNvGrpSpPr/>
          <p:nvPr/>
        </p:nvGrpSpPr>
        <p:grpSpPr>
          <a:xfrm>
            <a:off x="5001655" y="4950976"/>
            <a:ext cx="600484" cy="499420"/>
            <a:chOff x="8545593" y="4870313"/>
            <a:chExt cx="600484" cy="49942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85DCFF-0E60-5C49-9B40-FAFCF222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0755" y="4870313"/>
              <a:ext cx="0" cy="109728"/>
            </a:xfrm>
            <a:prstGeom prst="line">
              <a:avLst/>
            </a:prstGeom>
            <a:noFill/>
            <a:ln w="508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32C4BC-17D0-DF46-99C0-7EBD2ABE20FB}"/>
                    </a:ext>
                  </a:extLst>
                </p:cNvPr>
                <p:cNvSpPr txBox="1"/>
                <p:nvPr/>
              </p:nvSpPr>
              <p:spPr>
                <a:xfrm>
                  <a:off x="8545593" y="4959364"/>
                  <a:ext cx="600484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kumimoji="0" lang="en-US" sz="2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fPr>
                          <m:num>
                            <m:r>
                              <a:rPr kumimoji="0" lang="en-US" sz="2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Light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Light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FD06442-AF97-2746-ADB7-C67ABAFD4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5593" y="4959364"/>
                  <a:ext cx="600484" cy="410369"/>
                </a:xfrm>
                <a:prstGeom prst="rect">
                  <a:avLst/>
                </a:prstGeom>
                <a:blipFill>
                  <a:blip r:embed="rId15"/>
                  <a:stretch>
                    <a:fillRect l="-43750" t="-108824" r="-10417" b="-16764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122DE7-96CB-9246-8284-58F7832A5395}"/>
                  </a:ext>
                </a:extLst>
              </p:cNvPr>
              <p:cNvSpPr txBox="1"/>
              <p:nvPr/>
            </p:nvSpPr>
            <p:spPr>
              <a:xfrm>
                <a:off x="3323878" y="5024325"/>
                <a:ext cx="315792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0</m:t>
                      </m:r>
                    </m:oMath>
                  </m:oMathPara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122DE7-96CB-9246-8284-58F7832A5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78" y="5024325"/>
                <a:ext cx="315792" cy="410369"/>
              </a:xfrm>
              <a:prstGeom prst="rect">
                <a:avLst/>
              </a:prstGeom>
              <a:blipFill>
                <a:blip r:embed="rId16"/>
                <a:stretch>
                  <a:fillRect l="-769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2D76D3C-8F32-F74E-8DEC-CDF5AAE70BA1}"/>
              </a:ext>
            </a:extLst>
          </p:cNvPr>
          <p:cNvGrpSpPr/>
          <p:nvPr/>
        </p:nvGrpSpPr>
        <p:grpSpPr>
          <a:xfrm>
            <a:off x="7029226" y="4950976"/>
            <a:ext cx="315792" cy="499420"/>
            <a:chOff x="8734239" y="4870313"/>
            <a:chExt cx="315792" cy="49942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131CD1-B16A-184E-B7A8-EF2EA306C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0755" y="4870313"/>
              <a:ext cx="0" cy="109728"/>
            </a:xfrm>
            <a:prstGeom prst="line">
              <a:avLst/>
            </a:prstGeom>
            <a:noFill/>
            <a:ln w="508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21099A2-E975-FE43-BD37-6A065AC4ECF3}"/>
                    </a:ext>
                  </a:extLst>
                </p:cNvPr>
                <p:cNvSpPr txBox="1"/>
                <p:nvPr/>
              </p:nvSpPr>
              <p:spPr>
                <a:xfrm>
                  <a:off x="8734239" y="4959364"/>
                  <a:ext cx="315792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1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21099A2-E975-FE43-BD37-6A065AC4E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239" y="4959364"/>
                  <a:ext cx="315792" cy="410369"/>
                </a:xfrm>
                <a:prstGeom prst="rect">
                  <a:avLst/>
                </a:prstGeom>
                <a:blipFill>
                  <a:blip r:embed="rId17"/>
                  <a:stretch>
                    <a:fillRect l="-769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50F3EA-2230-5649-9CB4-4EBAEFF36DF9}"/>
              </a:ext>
            </a:extLst>
          </p:cNvPr>
          <p:cNvGrpSpPr/>
          <p:nvPr/>
        </p:nvGrpSpPr>
        <p:grpSpPr>
          <a:xfrm>
            <a:off x="5296817" y="2567296"/>
            <a:ext cx="1845112" cy="2438968"/>
            <a:chOff x="4890777" y="2352107"/>
            <a:chExt cx="1845112" cy="2438968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04E8D24-6FA6-3949-AD57-0A44CD583EF8}"/>
                </a:ext>
              </a:extLst>
            </p:cNvPr>
            <p:cNvSpPr/>
            <p:nvPr/>
          </p:nvSpPr>
          <p:spPr>
            <a:xfrm>
              <a:off x="4900613" y="2362200"/>
              <a:ext cx="1828800" cy="2428875"/>
            </a:xfrm>
            <a:custGeom>
              <a:avLst/>
              <a:gdLst>
                <a:gd name="connsiteX0" fmla="*/ 1824037 w 1828800"/>
                <a:gd name="connsiteY0" fmla="*/ 0 h 2428875"/>
                <a:gd name="connsiteX1" fmla="*/ 1828800 w 1828800"/>
                <a:gd name="connsiteY1" fmla="*/ 2428875 h 2428875"/>
                <a:gd name="connsiteX2" fmla="*/ 0 w 1828800"/>
                <a:gd name="connsiteY2" fmla="*/ 2424113 h 2428875"/>
                <a:gd name="connsiteX3" fmla="*/ 1824037 w 1828800"/>
                <a:gd name="connsiteY3" fmla="*/ 0 h 242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2428875">
                  <a:moveTo>
                    <a:pt x="1824037" y="0"/>
                  </a:moveTo>
                  <a:cubicBezTo>
                    <a:pt x="1825625" y="809625"/>
                    <a:pt x="1827212" y="1619250"/>
                    <a:pt x="1828800" y="2428875"/>
                  </a:cubicBezTo>
                  <a:lnTo>
                    <a:pt x="0" y="2424113"/>
                  </a:lnTo>
                  <a:lnTo>
                    <a:pt x="1824037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E3FD85-1A1E-7640-9E0C-5AE58F1A0866}"/>
                </a:ext>
              </a:extLst>
            </p:cNvPr>
            <p:cNvCxnSpPr>
              <a:cxnSpLocks/>
            </p:cNvCxnSpPr>
            <p:nvPr/>
          </p:nvCxnSpPr>
          <p:spPr>
            <a:xfrm>
              <a:off x="6735889" y="2352107"/>
              <a:ext cx="0" cy="243797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5EA45C1-894C-EE4F-BCF8-FE7D4F84297E}"/>
                </a:ext>
              </a:extLst>
            </p:cNvPr>
            <p:cNvCxnSpPr>
              <a:cxnSpLocks/>
            </p:cNvCxnSpPr>
            <p:nvPr/>
          </p:nvCxnSpPr>
          <p:spPr>
            <a:xfrm>
              <a:off x="4890777" y="4790083"/>
              <a:ext cx="1838924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77CD09-007F-6440-839F-F0AFDE97C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6965" y="2352107"/>
              <a:ext cx="1838924" cy="243797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F2029FE-C3B4-7B4C-AB4F-0F02D85EB3E4}"/>
              </a:ext>
            </a:extLst>
          </p:cNvPr>
          <p:cNvGrpSpPr/>
          <p:nvPr/>
        </p:nvGrpSpPr>
        <p:grpSpPr>
          <a:xfrm>
            <a:off x="6412304" y="2505887"/>
            <a:ext cx="4908156" cy="1492418"/>
            <a:chOff x="991025" y="3295422"/>
            <a:chExt cx="4908156" cy="14924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FCAEF3C-0967-5549-84B9-1F9D15A16DC8}"/>
                    </a:ext>
                  </a:extLst>
                </p:cNvPr>
                <p:cNvSpPr/>
                <p:nvPr/>
              </p:nvSpPr>
              <p:spPr>
                <a:xfrm>
                  <a:off x="2612960" y="3295422"/>
                  <a:ext cx="3286221" cy="856004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waiting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time</m:t>
                            </m:r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  <a:p>
                  <a:pPr algn="ctr"/>
                  <a:r>
                    <a:rPr lang="en-US" sz="2400" dirty="0">
                      <a:solidFill>
                        <a:schemeClr val="accent1"/>
                      </a:solidFill>
                    </a:rPr>
                    <a:t>faster than polynomial</a:t>
                  </a:r>
                </a:p>
              </p:txBody>
            </p:sp>
          </mc:Choice>
          <mc:Fallback xmlns="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FCAEF3C-0967-5549-84B9-1F9D15A16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960" y="3295422"/>
                  <a:ext cx="3286221" cy="856004"/>
                </a:xfrm>
                <a:prstGeom prst="rect">
                  <a:avLst/>
                </a:prstGeom>
                <a:blipFill>
                  <a:blip r:embed="rId18"/>
                  <a:stretch>
                    <a:fillRect l="-1158" r="-1158" b="-14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7BBF8B-8716-6F47-B7DE-3006998B311A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 flipV="1">
              <a:off x="991025" y="3723424"/>
              <a:ext cx="1621935" cy="10644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2" name="Freeform 51">
            <a:extLst>
              <a:ext uri="{FF2B5EF4-FFF2-40B4-BE49-F238E27FC236}">
                <a16:creationId xmlns:a16="http://schemas.microsoft.com/office/drawing/2014/main" id="{3F49152F-966F-BA4A-A61B-18AB4350B450}"/>
              </a:ext>
            </a:extLst>
          </p:cNvPr>
          <p:cNvSpPr/>
          <p:nvPr/>
        </p:nvSpPr>
        <p:spPr>
          <a:xfrm>
            <a:off x="3468935" y="2574120"/>
            <a:ext cx="3660720" cy="2439422"/>
          </a:xfrm>
          <a:custGeom>
            <a:avLst/>
            <a:gdLst>
              <a:gd name="connsiteX0" fmla="*/ 0 w 3625795"/>
              <a:gd name="connsiteY0" fmla="*/ 2417197 h 2425148"/>
              <a:gd name="connsiteX1" fmla="*/ 1796995 w 3625795"/>
              <a:gd name="connsiteY1" fmla="*/ 2425148 h 2425148"/>
              <a:gd name="connsiteX2" fmla="*/ 3625795 w 3625795"/>
              <a:gd name="connsiteY2" fmla="*/ 0 h 2425148"/>
              <a:gd name="connsiteX3" fmla="*/ 0 w 3625795"/>
              <a:gd name="connsiteY3" fmla="*/ 2417197 h 2425148"/>
              <a:gd name="connsiteX0" fmla="*/ 0 w 3625795"/>
              <a:gd name="connsiteY0" fmla="*/ 2417197 h 2434673"/>
              <a:gd name="connsiteX1" fmla="*/ 1790645 w 3625795"/>
              <a:gd name="connsiteY1" fmla="*/ 2434673 h 2434673"/>
              <a:gd name="connsiteX2" fmla="*/ 3625795 w 3625795"/>
              <a:gd name="connsiteY2" fmla="*/ 0 h 2434673"/>
              <a:gd name="connsiteX3" fmla="*/ 0 w 3625795"/>
              <a:gd name="connsiteY3" fmla="*/ 2417197 h 2434673"/>
              <a:gd name="connsiteX0" fmla="*/ 0 w 3654370"/>
              <a:gd name="connsiteY0" fmla="*/ 2426722 h 2434673"/>
              <a:gd name="connsiteX1" fmla="*/ 1819220 w 3654370"/>
              <a:gd name="connsiteY1" fmla="*/ 2434673 h 2434673"/>
              <a:gd name="connsiteX2" fmla="*/ 3654370 w 3654370"/>
              <a:gd name="connsiteY2" fmla="*/ 0 h 2434673"/>
              <a:gd name="connsiteX3" fmla="*/ 0 w 3654370"/>
              <a:gd name="connsiteY3" fmla="*/ 2426722 h 2434673"/>
              <a:gd name="connsiteX0" fmla="*/ 0 w 3660720"/>
              <a:gd name="connsiteY0" fmla="*/ 2436247 h 2436247"/>
              <a:gd name="connsiteX1" fmla="*/ 1825570 w 3660720"/>
              <a:gd name="connsiteY1" fmla="*/ 2434673 h 2436247"/>
              <a:gd name="connsiteX2" fmla="*/ 3660720 w 3660720"/>
              <a:gd name="connsiteY2" fmla="*/ 0 h 2436247"/>
              <a:gd name="connsiteX3" fmla="*/ 0 w 3660720"/>
              <a:gd name="connsiteY3" fmla="*/ 2436247 h 2436247"/>
              <a:gd name="connsiteX0" fmla="*/ 0 w 3663895"/>
              <a:gd name="connsiteY0" fmla="*/ 2448947 h 2448947"/>
              <a:gd name="connsiteX1" fmla="*/ 1825570 w 3663895"/>
              <a:gd name="connsiteY1" fmla="*/ 2447373 h 2448947"/>
              <a:gd name="connsiteX2" fmla="*/ 3663895 w 3663895"/>
              <a:gd name="connsiteY2" fmla="*/ 0 h 2448947"/>
              <a:gd name="connsiteX3" fmla="*/ 0 w 3663895"/>
              <a:gd name="connsiteY3" fmla="*/ 2448947 h 2448947"/>
              <a:gd name="connsiteX0" fmla="*/ 0 w 3660720"/>
              <a:gd name="connsiteY0" fmla="*/ 2439422 h 2439422"/>
              <a:gd name="connsiteX1" fmla="*/ 1825570 w 3660720"/>
              <a:gd name="connsiteY1" fmla="*/ 2437848 h 2439422"/>
              <a:gd name="connsiteX2" fmla="*/ 3660720 w 3660720"/>
              <a:gd name="connsiteY2" fmla="*/ 0 h 2439422"/>
              <a:gd name="connsiteX3" fmla="*/ 0 w 3660720"/>
              <a:gd name="connsiteY3" fmla="*/ 2439422 h 24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720" h="2439422">
                <a:moveTo>
                  <a:pt x="0" y="2439422"/>
                </a:moveTo>
                <a:lnTo>
                  <a:pt x="1825570" y="2437848"/>
                </a:lnTo>
                <a:lnTo>
                  <a:pt x="3660720" y="0"/>
                </a:lnTo>
                <a:lnTo>
                  <a:pt x="0" y="243942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965C30-4904-7F49-8A7D-CDDF8F4FF494}"/>
              </a:ext>
            </a:extLst>
          </p:cNvPr>
          <p:cNvSpPr txBox="1"/>
          <p:nvPr/>
        </p:nvSpPr>
        <p:spPr>
          <a:xfrm>
            <a:off x="7122067" y="1756094"/>
            <a:ext cx="475931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ctr" defTabSz="825500" hangingPunct="0"/>
            <a:r>
              <a:rPr lang="en-US" sz="2400" dirty="0">
                <a:solidFill>
                  <a:srgbClr val="000000"/>
                </a:solidFill>
                <a:sym typeface="Helvetica Light"/>
              </a:rPr>
              <a:t>Under “work-conserving” policies: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1D7287-9E52-951E-D27B-AED21828FCE8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3468935" y="2410531"/>
            <a:ext cx="3890201" cy="2603011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F957431-C0D5-5E7D-CF87-E988744FAD00}"/>
              </a:ext>
            </a:extLst>
          </p:cNvPr>
          <p:cNvSpPr txBox="1"/>
          <p:nvPr/>
        </p:nvSpPr>
        <p:spPr>
          <a:xfrm>
            <a:off x="6079408" y="1938606"/>
            <a:ext cx="244689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sym typeface="Helvetica Light"/>
              </a:rPr>
              <a:t>analogy for NDS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29F18C2-2007-E6F4-E499-E4ADD61C02C1}"/>
              </a:ext>
            </a:extLst>
          </p:cNvPr>
          <p:cNvCxnSpPr>
            <a:cxnSpLocks/>
          </p:cNvCxnSpPr>
          <p:nvPr/>
        </p:nvCxnSpPr>
        <p:spPr>
          <a:xfrm flipH="1">
            <a:off x="5310009" y="2428155"/>
            <a:ext cx="1936035" cy="2583372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87B3EFB-8714-84DE-1435-0CAB4F920165}"/>
              </a:ext>
            </a:extLst>
          </p:cNvPr>
          <p:cNvSpPr txBox="1"/>
          <p:nvPr/>
        </p:nvSpPr>
        <p:spPr>
          <a:xfrm>
            <a:off x="6003231" y="1944145"/>
            <a:ext cx="244689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sym typeface="Helvetica Light"/>
              </a:rPr>
              <a:t>analogy for HW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0937D29-E24F-15AD-04BC-EE17D7B849E7}"/>
              </a:ext>
            </a:extLst>
          </p:cNvPr>
          <p:cNvCxnSpPr>
            <a:cxnSpLocks/>
          </p:cNvCxnSpPr>
          <p:nvPr/>
        </p:nvCxnSpPr>
        <p:spPr>
          <a:xfrm flipV="1">
            <a:off x="6306608" y="3025329"/>
            <a:ext cx="1603654" cy="859897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2" name="Cross 61">
            <a:extLst>
              <a:ext uri="{FF2B5EF4-FFF2-40B4-BE49-F238E27FC236}">
                <a16:creationId xmlns:a16="http://schemas.microsoft.com/office/drawing/2014/main" id="{5FF6BB34-BADF-5462-CFEB-050DD66CD038}"/>
              </a:ext>
            </a:extLst>
          </p:cNvPr>
          <p:cNvSpPr>
            <a:spLocks noChangeAspect="1"/>
          </p:cNvSpPr>
          <p:nvPr/>
        </p:nvSpPr>
        <p:spPr>
          <a:xfrm rot="2700000">
            <a:off x="6265213" y="3829977"/>
            <a:ext cx="92025" cy="92025"/>
          </a:xfrm>
          <a:prstGeom prst="plus">
            <a:avLst>
              <a:gd name="adj" fmla="val 38818"/>
            </a:avLst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378E53D-F6F7-4BA4-4169-E28F02C3D1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9" y="2714183"/>
            <a:ext cx="2984556" cy="2240035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4229718-C499-6BCB-F2DC-403F15D32AA7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3217705" y="3833204"/>
            <a:ext cx="2025006" cy="997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Cross 65">
            <a:extLst>
              <a:ext uri="{FF2B5EF4-FFF2-40B4-BE49-F238E27FC236}">
                <a16:creationId xmlns:a16="http://schemas.microsoft.com/office/drawing/2014/main" id="{B6DEE263-9E58-C9FE-8462-04A93D048E35}"/>
              </a:ext>
            </a:extLst>
          </p:cNvPr>
          <p:cNvSpPr>
            <a:spLocks noChangeAspect="1"/>
          </p:cNvSpPr>
          <p:nvPr/>
        </p:nvSpPr>
        <p:spPr>
          <a:xfrm rot="2700000">
            <a:off x="5192737" y="3787977"/>
            <a:ext cx="92025" cy="92025"/>
          </a:xfrm>
          <a:prstGeom prst="plus">
            <a:avLst>
              <a:gd name="adj" fmla="val 38818"/>
            </a:avLst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D2D9839-4BB8-254F-B454-EA92FD07F708}"/>
              </a:ext>
            </a:extLst>
          </p:cNvPr>
          <p:cNvGrpSpPr/>
          <p:nvPr/>
        </p:nvGrpSpPr>
        <p:grpSpPr>
          <a:xfrm>
            <a:off x="390820" y="2587166"/>
            <a:ext cx="5211319" cy="1594667"/>
            <a:chOff x="-734161" y="1365912"/>
            <a:chExt cx="5211319" cy="15946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5F2C1ED-B1B5-3641-87C4-955427D77E8E}"/>
                    </a:ext>
                  </a:extLst>
                </p:cNvPr>
                <p:cNvSpPr/>
                <p:nvPr/>
              </p:nvSpPr>
              <p:spPr>
                <a:xfrm>
                  <a:off x="-734161" y="1365912"/>
                  <a:ext cx="2805264" cy="1594667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</a:rPr>
                    <a:t>rest of talk:</a:t>
                  </a:r>
                </a:p>
                <a:p>
                  <a:pPr algn="ctr"/>
                  <a:r>
                    <a:rPr lang="en-US" sz="2400" dirty="0">
                      <a:solidFill>
                        <a:srgbClr val="C00000"/>
                      </a:solidFill>
                      <a:ea typeface="Cambria Math" panose="02040503050406030204" pitchFamily="18" charset="0"/>
                    </a:rPr>
                    <a:t>characterizing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waiting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time</m:t>
                          </m:r>
                        </m:e>
                      </m:d>
                    </m:oMath>
                  </a14:m>
                  <a:r>
                    <a:rPr lang="en-US" sz="2400" dirty="0">
                      <a:solidFill>
                        <a:srgbClr val="C00000"/>
                      </a:solidFill>
                    </a:rPr>
                    <a:t> in this regime</a:t>
                  </a:r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5F2C1ED-B1B5-3641-87C4-955427D77E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34161" y="1365912"/>
                  <a:ext cx="2805264" cy="1594667"/>
                </a:xfrm>
                <a:prstGeom prst="rect">
                  <a:avLst/>
                </a:prstGeom>
                <a:blipFill>
                  <a:blip r:embed="rId21"/>
                  <a:stretch>
                    <a:fillRect t="-4000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C25B43C-A9A8-C245-9949-2BDD0A1CE722}"/>
                </a:ext>
              </a:extLst>
            </p:cNvPr>
            <p:cNvCxnSpPr>
              <a:cxnSpLocks/>
              <a:endCxn id="57" idx="3"/>
            </p:cNvCxnSpPr>
            <p:nvPr/>
          </p:nvCxnSpPr>
          <p:spPr>
            <a:xfrm flipH="1" flipV="1">
              <a:off x="2071103" y="2163246"/>
              <a:ext cx="2406055" cy="677723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7848599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3" grpId="0" animBg="1"/>
      <p:bldP spid="33" grpId="1" animBg="1"/>
      <p:bldP spid="15" grpId="0"/>
      <p:bldP spid="16" grpId="0"/>
      <p:bldP spid="17" grpId="0"/>
      <p:bldP spid="19" grpId="0"/>
      <p:bldP spid="28" grpId="0"/>
      <p:bldP spid="34" grpId="0"/>
      <p:bldP spid="24" grpId="0"/>
      <p:bldP spid="52" grpId="0" animBg="1"/>
      <p:bldP spid="73" grpId="0"/>
      <p:bldP spid="54" grpId="0"/>
      <p:bldP spid="54" grpId="1"/>
      <p:bldP spid="60" grpId="0"/>
      <p:bldP spid="60" grpId="1"/>
      <p:bldP spid="62" grpId="0" animBg="1"/>
      <p:bldP spid="62" grpId="1" animBg="1"/>
      <p:bldP spid="66" grpId="0" animBg="1"/>
      <p:bldP spid="6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266AC68-77A6-9D4F-86DB-47191DE484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13</a:t>
            </a:fld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FF6948-3D01-2646-932C-BF7BB8C1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(simplified) cont’d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A61432-2D75-DD4B-A46E-1E5EEAEDBD54}"/>
              </a:ext>
            </a:extLst>
          </p:cNvPr>
          <p:cNvGrpSpPr>
            <a:grpSpLocks noChangeAspect="1"/>
          </p:cNvGrpSpPr>
          <p:nvPr/>
        </p:nvGrpSpPr>
        <p:grpSpPr>
          <a:xfrm>
            <a:off x="7867953" y="1442019"/>
            <a:ext cx="3835483" cy="2418828"/>
            <a:chOff x="2742433" y="1234137"/>
            <a:chExt cx="6972416" cy="439711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67C353-8A16-C44A-B058-528DCC350CDE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B43BEA3-0838-844E-B344-B041A4DCAAF5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B237081-22E5-174B-862D-06FCE3F8B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9E0528A-18BB-5646-A1A2-D211E5C36967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D677B-2F8B-3B40-BBB4-3BE646FB50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8CE857C-9097-8A41-9BF2-0CE370CB70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DB1B4B1-E996-B742-9D46-59B59E6E34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69D1D20-1CEB-074A-BCD4-1F314A839A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3" name="Right Brace 12">
                <a:extLst>
                  <a:ext uri="{FF2B5EF4-FFF2-40B4-BE49-F238E27FC236}">
                    <a16:creationId xmlns:a16="http://schemas.microsoft.com/office/drawing/2014/main" id="{BE8D224F-76C2-A04B-8626-670D41FB7933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500405-FFA6-CA41-A299-2936F54EE1E9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500405-FFA6-CA41-A299-2936F54EE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3"/>
                  <a:stretch>
                    <a:fillRect l="-1923" r="-288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E83BDFD-F9EE-2E40-A965-F0F99E076D31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E83BDFD-F9EE-2E40-A965-F0F99E076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7362BCE-A3E2-7A44-BB1D-FF87A945366B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7362BCE-A3E2-7A44-BB1D-FF87A94536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5"/>
                  <a:stretch>
                    <a:fillRect r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D65A07D-108F-744D-AF7D-0D9B9229B285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D65A07D-108F-744D-AF7D-0D9B9229B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6"/>
                  <a:stretch>
                    <a:fillRect l="-357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1FADC7C-3B15-3B4E-9315-2F0B71994CC5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A52E2ED9-A583-4B4F-861A-E548B01B6975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A52E2ED9-A583-4B4F-861A-E548B01B69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4349945-7BDD-754C-8124-3AA9E32F992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601FB36-9A3F-744F-810E-D5CDEDC73666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C939759-176F-934D-98E3-EC93AF04556B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D85DCFF-0E60-5C49-9B40-FAFCF22260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532C4BC-17D0-DF46-99C0-7EBD2ABE20FB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532C4BC-17D0-DF46-99C0-7EBD2ABE20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4091" t="-96667" r="-6818" b="-1566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122DE7-96CB-9246-8284-58F7832A5395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122DE7-96CB-9246-8284-58F7832A5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2D76D3C-8F32-F74E-8DEC-CDF5AAE70BA1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1131CD1-B16A-184E-B7A8-EF2EA306C1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B21099A2-E975-FE43-BD37-6A065AC4ECF3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B21099A2-E975-FE43-BD37-6A065AC4EC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450F3EA-2230-5649-9CB4-4EBAEFF36DF9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904E8D24-6FA6-3949-AD57-0A44CD583EF8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9E3FD85-1A1E-7640-9E0C-5AE58F1A0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5EA45C1-894C-EE4F-BCF8-FE7D4F842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A77CD09-007F-6440-839F-F0AFDE97CF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F49152F-966F-BA4A-A61B-18AB4350B450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5BE83DA-8672-2B4A-B69B-E15A45F352C6}"/>
                  </a:ext>
                </a:extLst>
              </p:cNvPr>
              <p:cNvSpPr/>
              <p:nvPr/>
            </p:nvSpPr>
            <p:spPr>
              <a:xfrm>
                <a:off x="1163363" y="1460051"/>
                <a:ext cx="5851282" cy="1759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?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How fast? 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Which policy achieves the optimal order?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5BE83DA-8672-2B4A-B69B-E15A45F35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363" y="1460051"/>
                <a:ext cx="5851282" cy="1759008"/>
              </a:xfrm>
              <a:prstGeom prst="rect">
                <a:avLst/>
              </a:prstGeom>
              <a:blipFill>
                <a:blip r:embed="rId11"/>
                <a:stretch>
                  <a:fillRect l="-1085" r="-1085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04261B-D813-534E-92B0-2F8FFB7AC113}"/>
              </a:ext>
            </a:extLst>
          </p:cNvPr>
          <p:cNvCxnSpPr>
            <a:cxnSpLocks/>
          </p:cNvCxnSpPr>
          <p:nvPr/>
        </p:nvCxnSpPr>
        <p:spPr>
          <a:xfrm flipH="1" flipV="1">
            <a:off x="6776521" y="2414814"/>
            <a:ext cx="2690612" cy="582340"/>
          </a:xfrm>
          <a:prstGeom prst="line">
            <a:avLst/>
          </a:prstGeom>
          <a:noFill/>
          <a:ln w="127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26317C2C-5D49-6944-A30D-4E768972C714}"/>
              </a:ext>
            </a:extLst>
          </p:cNvPr>
          <p:cNvSpPr/>
          <p:nvPr/>
        </p:nvSpPr>
        <p:spPr>
          <a:xfrm>
            <a:off x="850252" y="4125363"/>
            <a:ext cx="2103120" cy="15107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FCFS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BCC034E3-96D1-114F-8CA8-CB6085E02AEC}"/>
                  </a:ext>
                </a:extLst>
              </p:cNvPr>
              <p:cNvSpPr/>
              <p:nvPr/>
            </p:nvSpPr>
            <p:spPr>
              <a:xfrm>
                <a:off x="3251993" y="4125363"/>
                <a:ext cx="3312493" cy="1510780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0" rIns="50800" bIns="50800" numCol="1" spcCol="38100" rtlCol="0" anchor="ctr">
                <a:noAutofit/>
              </a:bodyPr>
              <a:lstStyle/>
              <a:p>
                <a:pPr algn="ctr" defTabSz="825500" hangingPunct="0"/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Lower bound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BCC034E3-96D1-114F-8CA8-CB6085E02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993" y="4125363"/>
                <a:ext cx="3312493" cy="151078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FC66910-F813-6D44-952F-B1DE87C66E1B}"/>
              </a:ext>
            </a:extLst>
          </p:cNvPr>
          <p:cNvSpPr/>
          <p:nvPr/>
        </p:nvSpPr>
        <p:spPr>
          <a:xfrm>
            <a:off x="6863106" y="4125363"/>
            <a:ext cx="2743200" cy="15107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0" rIns="50800" bIns="50800" numCol="1" spcCol="38100" rtlCol="0" anchor="ctr">
            <a:noAutofit/>
          </a:bodyPr>
          <a:lstStyle/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Optimal policy:</a:t>
            </a:r>
          </a:p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P-Priority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4771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  <p:bldP spid="59" grpId="0" animBg="1"/>
      <p:bldP spid="60" grpId="0" animBg="1"/>
      <p:bldP spid="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4FEF-A206-4C45-8650-D90467C5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8640" y="4104313"/>
                <a:ext cx="11091672" cy="237412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does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diminishing rate is slow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8640" y="4104313"/>
                <a:ext cx="11091672" cy="2374124"/>
              </a:xfrm>
              <a:blipFill>
                <a:blip r:embed="rId3"/>
                <a:stretch>
                  <a:fillRect l="-571" t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094A6-36FE-7A4C-A09F-E92BFCC42F6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14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/>
              <p:nvPr/>
            </p:nvSpPr>
            <p:spPr>
              <a:xfrm>
                <a:off x="601643" y="1279560"/>
                <a:ext cx="10134851" cy="2468880"/>
              </a:xfrm>
              <a:prstGeom prst="roundRect">
                <a:avLst>
                  <a:gd name="adj" fmla="val 12671"/>
                </a:avLst>
              </a:prstGeom>
              <a:solidFill>
                <a:srgbClr val="FFFFFF"/>
              </a:soli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50800" rIns="50800" bIns="50800" numCol="1" spcCol="38100" rtlCol="0" anchor="t" anchorCtr="0">
                <a:noAutofit/>
              </a:bodyPr>
              <a:lstStyle/>
              <a:p>
                <a:pPr defTabSz="825500" hangingPunct="0">
                  <a:spcAft>
                    <a:spcPts val="1200"/>
                  </a:spcAft>
                </a:pPr>
                <a:r>
                  <a:rPr kumimoji="0" lang="en-US" sz="2400" b="1" i="0" u="none" strike="noStrike" cap="small" spc="0" normalizeH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Theorem </a:t>
                </a:r>
                <a:r>
                  <a:rPr kumimoji="0" lang="en-US" sz="2000" b="1" i="0" u="none" strike="noStrike" cap="small" spc="0" normalizeH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(</a:t>
                </a:r>
                <a:r>
                  <a:rPr lang="en-US" sz="2000" dirty="0">
                    <a:solidFill>
                      <a:srgbClr val="C00000"/>
                    </a:solidFill>
                  </a:rPr>
                  <a:t>[HW21], simplified) </a:t>
                </a:r>
                <a:r>
                  <a:rPr lang="en-US" sz="2400" dirty="0">
                    <a:sym typeface="Helvetica Light"/>
                  </a:rPr>
                  <a:t>Under FCFS</a:t>
                </a:r>
                <a:endParaRPr kumimoji="0" lang="en-US" sz="2400" b="1" i="0" u="none" strike="noStrike" cap="small" spc="0" normalizeH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algn="ctr" defTabSz="825500" hangingPunct="0">
                  <a:spcAft>
                    <a:spcPts val="1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</a:p>
              <a:p>
                <a:pPr defTabSz="825500" hangingPunct="0"/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where s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lack capacity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 max server-need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  <a:r>
                  <a:rPr kumimoji="0" lang="en-US" sz="24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assuming a proper mixture of jobs with max server need and jobs with server need = 1.</a:t>
                </a:r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3" y="1279560"/>
                <a:ext cx="10134851" cy="2468880"/>
              </a:xfrm>
              <a:prstGeom prst="roundRect">
                <a:avLst>
                  <a:gd name="adj" fmla="val 12671"/>
                </a:avLst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9BAED1D-7550-B54D-813A-9D16CD0657E7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3957185"/>
            <a:ext cx="3835483" cy="2418828"/>
            <a:chOff x="2742433" y="1234137"/>
            <a:chExt cx="6972416" cy="4397118"/>
          </a:xfrm>
        </p:grpSpPr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E743A5F3-549A-FB46-9429-BFAEBD8F6432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5601E901-1097-194C-A6ED-E2C050024382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366561-D03D-B749-B3F9-667E34725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4F9DDA3-5C63-7040-BC3B-34DB94C0338D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029DAC-2955-4043-B911-B44B1B74AB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667E2594-FF93-F84A-B16D-4AC79ED108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2DCA1B0-66F1-A643-A31B-4CFF56E8CB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FBA53A3-ABDD-2449-A07E-E627A3ECC3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67" name="Right Brace 66">
                <a:extLst>
                  <a:ext uri="{FF2B5EF4-FFF2-40B4-BE49-F238E27FC236}">
                    <a16:creationId xmlns:a16="http://schemas.microsoft.com/office/drawing/2014/main" id="{1B9769EA-2244-3E41-8107-D5784D7B350A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5"/>
                  <a:stretch>
                    <a:fillRect l="-1923" t="-2326" r="-192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7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8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E1B245B-CE79-2545-BD13-95E5E4A8B5C9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31A2F6A-A7C9-9448-83BE-71DE245F2A6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66EFC2-7E3A-B843-8FB8-8CC6091EC7C0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84CEE15-7132-D34C-8AA8-312CDF6DD348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3C33407-8975-EB4A-8390-8F7621DF5E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4091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11"/>
                  <a:stretch>
                    <a:fillRect l="-41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952A188-4DCB-6949-877C-F986B2E56140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BE0F08B-221F-D24F-91FB-6E10EF194F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D23E3F0-D19B-4C42-A87A-5B3389F6BED2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C16E742-DB90-C14A-A700-010122FE286D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46AB0F3-97E8-8548-BF13-57DA9E04D4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3D8B7F4-C986-0E49-9578-00637A79F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0821999A-EF72-D84C-B589-89A9EF3143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FCCC380-2FFB-7C40-BEF6-872CEDA5E223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98F9561-0C41-0643-8F76-E192ADF60619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4795398"/>
            <a:ext cx="2079673" cy="783041"/>
          </a:xfrm>
          <a:prstGeom prst="line">
            <a:avLst/>
          </a:prstGeom>
          <a:noFill/>
          <a:ln w="127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265805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4FEF-A206-4C45-8650-D90467C5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8640" y="4104313"/>
                <a:ext cx="11091672" cy="237412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Compare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FCFS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8640" y="4104313"/>
                <a:ext cx="11091672" cy="2374124"/>
              </a:xfrm>
              <a:blipFill>
                <a:blip r:embed="rId3"/>
                <a:stretch>
                  <a:fillRect l="-571" t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094A6-36FE-7A4C-A09F-E92BFCC42F6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15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/>
              <p:nvPr/>
            </p:nvSpPr>
            <p:spPr>
              <a:xfrm>
                <a:off x="601643" y="1279563"/>
                <a:ext cx="10134851" cy="2468880"/>
              </a:xfrm>
              <a:prstGeom prst="roundRect">
                <a:avLst>
                  <a:gd name="adj" fmla="val 12671"/>
                </a:avLst>
              </a:prstGeom>
              <a:solidFill>
                <a:srgbClr val="FFFFFF"/>
              </a:soli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50800" rIns="50800" bIns="50800" numCol="1" spcCol="38100" rtlCol="0" anchor="t" anchorCtr="0">
                <a:noAutofit/>
              </a:bodyPr>
              <a:lstStyle/>
              <a:p>
                <a:pPr defTabSz="825500" hangingPunct="0">
                  <a:spcAft>
                    <a:spcPts val="1200"/>
                  </a:spcAft>
                </a:pPr>
                <a:r>
                  <a:rPr lang="en-US" sz="2400" b="1" cap="small" dirty="0">
                    <a:solidFill>
                      <a:srgbClr val="C00000"/>
                    </a:solidFill>
                    <a:sym typeface="Helvetica Light"/>
                  </a:rPr>
                  <a:t>Theorem </a:t>
                </a:r>
                <a:r>
                  <a:rPr lang="en-US" sz="2000" b="1" cap="small" dirty="0">
                    <a:solidFill>
                      <a:srgbClr val="C00000"/>
                    </a:solidFill>
                    <a:sym typeface="Helvetica Light"/>
                  </a:rPr>
                  <a:t>(</a:t>
                </a:r>
                <a:r>
                  <a:rPr lang="en-US" sz="2000" dirty="0">
                    <a:solidFill>
                      <a:srgbClr val="C00000"/>
                    </a:solidFill>
                  </a:rPr>
                  <a:t>[HW21], simplified)</a:t>
                </a:r>
                <a:r>
                  <a:rPr kumimoji="0" lang="en-US" sz="2400" b="1" i="0" u="none" strike="noStrike" cap="small" spc="0" normalizeH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r>
                  <a:rPr lang="en-US" sz="2400" dirty="0">
                    <a:sym typeface="Helvetica Light"/>
                  </a:rPr>
                  <a:t>Under any policy</a:t>
                </a:r>
                <a:endParaRPr kumimoji="0" lang="en-US" sz="2400" b="1" i="0" u="none" strike="noStrike" cap="small" spc="0" normalizeH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algn="ctr" defTabSz="825500" hangingPunct="0">
                  <a:spcAft>
                    <a:spcPts val="1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</a:p>
              <a:p>
                <a:pPr defTabSz="825500" hangingPunct="0"/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where s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lack capacity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 max server-need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  <a:endParaRPr lang="en-US" sz="2400" dirty="0">
                  <a:solidFill>
                    <a:srgbClr val="000000"/>
                  </a:solidFill>
                  <a:sym typeface="Helvetica Light"/>
                </a:endParaRPr>
              </a:p>
              <a:p>
                <a:pPr defTabSz="825500" hangingPunct="0"/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assuming a proper mixture of jobs with max server need and jobs with server need = 1.</a:t>
                </a:r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3" y="1279563"/>
                <a:ext cx="10134851" cy="2468880"/>
              </a:xfrm>
              <a:prstGeom prst="roundRect">
                <a:avLst>
                  <a:gd name="adj" fmla="val 12671"/>
                </a:avLst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B3C9644-4D1A-C099-BDCD-5C89A9028F5C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3957185"/>
            <a:ext cx="3835483" cy="2418828"/>
            <a:chOff x="2742433" y="1234137"/>
            <a:chExt cx="6972416" cy="4397118"/>
          </a:xfrm>
        </p:grpSpPr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846AAD34-F3C0-E43A-1C89-68268A62A23C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0" name="Rectangle 32">
              <a:extLst>
                <a:ext uri="{FF2B5EF4-FFF2-40B4-BE49-F238E27FC236}">
                  <a16:creationId xmlns:a16="http://schemas.microsoft.com/office/drawing/2014/main" id="{43743A32-0712-3732-D8F1-35EC608274C2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3825B38-3898-D7E6-15A4-AB52C6E040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BBF632C-8A5B-84C0-7720-70DF0AFF62CC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6F20F0C-B775-4E0C-4F19-1E07233CA3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F756EF3-B262-F34D-FE68-28992D63A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058EBD7F-32B3-31F5-6E74-EDBC811E39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FB6D0459-86CD-4E80-0C64-B93E03AA45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8" name="Right Brace 97">
                <a:extLst>
                  <a:ext uri="{FF2B5EF4-FFF2-40B4-BE49-F238E27FC236}">
                    <a16:creationId xmlns:a16="http://schemas.microsoft.com/office/drawing/2014/main" id="{87D9732A-DEA6-13F8-3ED2-8901EED23B8A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7941D16-0360-5A7E-7279-3DF627C2C89B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5"/>
                  <a:stretch>
                    <a:fillRect l="-1923" t="-2326" r="-192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FAD8EC2-AF5D-8C02-1A23-F8D6E9797F6E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FB97D79-88F9-207D-F732-13A9716206A0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7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8D1AEC3-057B-DA58-23C6-6D7366F9F10F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8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174582-A3E6-D672-3160-3249B4D52971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6C589EC8-CBE9-A89E-25EE-63DBAA4DC1FD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053670F0-A52F-C2FF-58AB-2D85BBF73D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2182EBC-7B26-536B-1034-79AB136617DE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71288E0-638C-99F7-FABD-3584849E2AED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E36D2347-DF97-BF28-AA6A-9C87695903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0178C347-3534-C37B-9211-B68C72C86DAC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4091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7F6FF5B-BB07-14EC-74F3-16E8D4DE3DBE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11"/>
                  <a:stretch>
                    <a:fillRect l="-41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B04D118-3886-A1F7-4138-75568A920255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CAEBB261-EEF2-83F8-C34C-73670D92AF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9081EC6-D9CD-1B56-1724-282F2ACB74C6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F65C51E-1896-7107-1AD4-CB8D7C28B375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C2630A11-EAB0-CF64-7B58-0391B8F802F1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257FE29-6310-62A3-D1C9-FBB360407E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264817E-3DAD-8E18-1E5A-0D536FBF0A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E27AA97-5785-91AA-24AC-A7EB1016F6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F3B2EE2-58B0-CF3F-A03E-9DAC1AE46424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1857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4FEF-A206-4C45-8650-D90467C5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P-Priority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8641" y="3868358"/>
                <a:ext cx="7799888" cy="281002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P-Priority policy: prioritize job classes with smaller server needs</a:t>
                </a:r>
              </a:p>
              <a:p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prioritize based 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similar to SRPT.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A000F-5499-CC43-AAF3-FBBF0D14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8641" y="3868358"/>
                <a:ext cx="7799888" cy="2810027"/>
              </a:xfrm>
              <a:blipFill>
                <a:blip r:embed="rId3"/>
                <a:stretch>
                  <a:fillRect l="-813" t="-1802" b="-20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094A6-36FE-7A4C-A09F-E92BFCC42F6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16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/>
              <p:nvPr/>
            </p:nvSpPr>
            <p:spPr>
              <a:xfrm>
                <a:off x="601643" y="1279563"/>
                <a:ext cx="10134851" cy="2468880"/>
              </a:xfrm>
              <a:prstGeom prst="roundRect">
                <a:avLst>
                  <a:gd name="adj" fmla="val 12671"/>
                </a:avLst>
              </a:prstGeom>
              <a:solidFill>
                <a:srgbClr val="FFFFFF"/>
              </a:soli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182880" tIns="50800" rIns="50800" bIns="50800" numCol="1" spcCol="38100" rtlCol="0" anchor="t" anchorCtr="0">
                <a:noAutofit/>
              </a:bodyPr>
              <a:lstStyle/>
              <a:p>
                <a:pPr defTabSz="825500" hangingPunct="0">
                  <a:spcAft>
                    <a:spcPts val="1200"/>
                  </a:spcAft>
                </a:pPr>
                <a:r>
                  <a:rPr lang="en-US" sz="2400" b="1" cap="small" dirty="0">
                    <a:solidFill>
                      <a:srgbClr val="C00000"/>
                    </a:solidFill>
                    <a:sym typeface="Helvetica Light"/>
                  </a:rPr>
                  <a:t>Theorem </a:t>
                </a:r>
                <a:r>
                  <a:rPr lang="en-US" sz="2000" b="1" cap="small" dirty="0">
                    <a:solidFill>
                      <a:srgbClr val="C00000"/>
                    </a:solidFill>
                    <a:sym typeface="Helvetica Light"/>
                  </a:rPr>
                  <a:t>(</a:t>
                </a:r>
                <a:r>
                  <a:rPr lang="en-US" sz="2000" dirty="0">
                    <a:solidFill>
                      <a:srgbClr val="C00000"/>
                    </a:solidFill>
                  </a:rPr>
                  <a:t>[HW21], simplified)</a:t>
                </a:r>
                <a:r>
                  <a:rPr kumimoji="0" lang="en-US" sz="2400" b="1" i="0" u="none" strike="noStrike" cap="small" spc="0" normalizeH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r>
                  <a:rPr lang="en-US" sz="2400" dirty="0">
                    <a:sym typeface="Helvetica Light"/>
                  </a:rPr>
                  <a:t>Under P-Priority policy</a:t>
                </a:r>
                <a:endParaRPr kumimoji="0" lang="en-US" sz="2400" b="1" i="0" u="none" strike="noStrike" cap="small" spc="0" normalizeH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algn="ctr" defTabSz="825500" hangingPunct="0">
                  <a:spcAft>
                    <a:spcPts val="1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</a:p>
              <a:p>
                <a:pPr defTabSz="825500" hangingPunct="0"/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where s</a:t>
                </a: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lack capacity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 max server-need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,</a:t>
                </a:r>
              </a:p>
              <a:p>
                <a:pPr defTabSz="825500" hangingPunct="0"/>
                <a:r>
                  <a:rPr lang="en-US" sz="2400" dirty="0">
                    <a:solidFill>
                      <a:srgbClr val="000000"/>
                    </a:solidFill>
                    <a:sym typeface="Helvetica Light"/>
                  </a:rPr>
                  <a:t>assuming a proper mixture of jobs with max server need and jobs with server need = 1.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9EB82C6-EB0E-7242-AB2F-34D70FE45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3" y="1279563"/>
                <a:ext cx="10134851" cy="2468880"/>
              </a:xfrm>
              <a:prstGeom prst="roundRect">
                <a:avLst>
                  <a:gd name="adj" fmla="val 12671"/>
                </a:avLst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539535-5804-1D4B-914E-25C25907C0C9}"/>
                  </a:ext>
                </a:extLst>
              </p:cNvPr>
              <p:cNvSpPr txBox="1"/>
              <p:nvPr/>
            </p:nvSpPr>
            <p:spPr>
              <a:xfrm>
                <a:off x="1312193" y="4693766"/>
                <a:ext cx="4558299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server needs: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≤</m:t>
                    </m:r>
                    <m:sSub>
                      <m:sSubPr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2</m:t>
                        </m:r>
                      </m:sub>
                    </m:sSub>
                    <m:r>
                      <a:rPr kumimoji="0" lang="en-US" sz="2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≤…≤</m:t>
                    </m:r>
                    <m:sSub>
                      <m:sSubPr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ℓ</m:t>
                        </m:r>
                      </m:e>
                      <m: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𝐾</m:t>
                        </m:r>
                      </m:sub>
                    </m:sSub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539535-5804-1D4B-914E-25C25907C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193" y="4693766"/>
                <a:ext cx="4558299" cy="471924"/>
              </a:xfrm>
              <a:prstGeom prst="rect">
                <a:avLst/>
              </a:prstGeom>
              <a:blipFill>
                <a:blip r:embed="rId5"/>
                <a:stretch>
                  <a:fillRect l="-2500" t="-7895" b="-28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84E4C7F-E5FB-2C4D-BCAC-3B14AF4B41D0}"/>
              </a:ext>
            </a:extLst>
          </p:cNvPr>
          <p:cNvGrpSpPr/>
          <p:nvPr/>
        </p:nvGrpSpPr>
        <p:grpSpPr>
          <a:xfrm>
            <a:off x="2588609" y="5226987"/>
            <a:ext cx="3831797" cy="709893"/>
            <a:chOff x="2588609" y="4900413"/>
            <a:chExt cx="3831797" cy="709893"/>
          </a:xfrm>
        </p:grpSpPr>
        <p:sp>
          <p:nvSpPr>
            <p:cNvPr id="9" name="Left Arrow 8">
              <a:extLst>
                <a:ext uri="{FF2B5EF4-FFF2-40B4-BE49-F238E27FC236}">
                  <a16:creationId xmlns:a16="http://schemas.microsoft.com/office/drawing/2014/main" id="{FD512296-CAD1-2F4D-9E42-320825AC3558}"/>
                </a:ext>
              </a:extLst>
            </p:cNvPr>
            <p:cNvSpPr/>
            <p:nvPr/>
          </p:nvSpPr>
          <p:spPr>
            <a:xfrm>
              <a:off x="3238516" y="4900413"/>
              <a:ext cx="2631976" cy="248203"/>
            </a:xfrm>
            <a:prstGeom prst="leftArrow">
              <a:avLst/>
            </a:prstGeom>
            <a:gradFill>
              <a:lin ang="0" scaled="0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1B3EC6-A9E3-534C-819F-04EEA5416F76}"/>
                </a:ext>
              </a:extLst>
            </p:cNvPr>
            <p:cNvSpPr txBox="1"/>
            <p:nvPr/>
          </p:nvSpPr>
          <p:spPr>
            <a:xfrm>
              <a:off x="2588609" y="5199937"/>
              <a:ext cx="1457130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C00000"/>
                  </a:solidFill>
                  <a:sym typeface="Helvetica Light"/>
                </a:rPr>
                <a:t>h</a:t>
              </a: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igh priority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AB05B08-3F31-974B-908B-BBD594B2DBD0}"/>
                </a:ext>
              </a:extLst>
            </p:cNvPr>
            <p:cNvSpPr txBox="1"/>
            <p:nvPr/>
          </p:nvSpPr>
          <p:spPr>
            <a:xfrm>
              <a:off x="5077090" y="5197973"/>
              <a:ext cx="1343316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Helvetica Light"/>
                </a:rPr>
                <a:t>low</a:t>
              </a: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 priority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0F9D956-0FCC-0C0D-DD8A-D90A299F0268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3957185"/>
            <a:ext cx="3835483" cy="2418828"/>
            <a:chOff x="2742433" y="1234137"/>
            <a:chExt cx="6972416" cy="4397118"/>
          </a:xfrm>
        </p:grpSpPr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A9314C19-9FE8-559E-DA45-013A2CD04264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1" name="Rectangle 32">
              <a:extLst>
                <a:ext uri="{FF2B5EF4-FFF2-40B4-BE49-F238E27FC236}">
                  <a16:creationId xmlns:a16="http://schemas.microsoft.com/office/drawing/2014/main" id="{FF0DBBB7-DFFE-1DA2-6F2E-A040EF08BD9D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525D973-22BC-BE59-ABBE-2CB118624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68CCE5F-1AC2-A191-9425-3BC372E7FEC6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49C9B5D-D3E5-0531-CA59-AE5E005EE7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9D5F302-E0A2-CAFE-5E9C-419C5B5E5C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2C4D4116-378E-F8B2-554D-8965C70C11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E4A0EA6-CCD4-AC29-2903-A81EB3B44E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99" name="Right Brace 98">
                <a:extLst>
                  <a:ext uri="{FF2B5EF4-FFF2-40B4-BE49-F238E27FC236}">
                    <a16:creationId xmlns:a16="http://schemas.microsoft.com/office/drawing/2014/main" id="{28F70C55-BE89-DF85-1544-50117555DB8A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4AB182C-9F11-906E-9921-E52AB4108526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6"/>
                  <a:stretch>
                    <a:fillRect l="-1923" t="-2326" r="-192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CA99696-0472-01A3-F58D-5FA0E95D6561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6C51DD13-AC23-0639-F664-D5A534B26820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8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F1DD5050-7708-BAAF-423D-977865419152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9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9849EA6-E4F0-3B54-F93C-148316CE450A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5E591E3A-20CF-0C6B-4FE7-F84AA796196C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547E5D54-E2B8-DF14-15FA-AE6667AAF32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CC9C0B0-5397-A16B-B77A-7CEF2AC20E95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DA404D1-BD0D-CDB1-435B-D8C2E9E55D77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39596754-45B1-2E5E-B09C-04A8B42CCC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AEC01D55-5D67-E82B-C80D-4D23E9A10D37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091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8EF5129-636B-38D2-AF0E-488866922718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12"/>
                  <a:stretch>
                    <a:fillRect l="-41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B3817F9-0237-7B50-E366-8EB1E94F7ECB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55B394B-7F16-422C-405D-3386416746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8A04545F-8A6D-EA02-006E-75B2972BB641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6A89705-DA7B-C1F0-6F47-FC24D2E7AC25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F1833FDC-1CA2-6DDF-9AAB-3DAC39270417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8064C48D-650C-7CC4-25EF-DD26BCC7C9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26E0E0B-36DB-2F98-8E63-0E421AA45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47965E39-007B-3F54-2A1A-884AC1C23E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B1A6C0C-F22A-52D3-EFA7-05FDAE44C43F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393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6FBC-B268-8E86-F33D-72133B63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412C4E6-0479-A22E-259B-FD2B159B25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Summary</a:t>
                </a:r>
              </a:p>
              <a:p>
                <a:pPr lvl="1"/>
                <a:r>
                  <a:rPr lang="en-US" sz="2400" dirty="0"/>
                  <a:t>FCFS: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Lower bound: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P-Priority: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Optimal order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FCFS is strictly suboptimal in order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412C4E6-0479-A22E-259B-FD2B159B2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571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A8504-E135-1925-E446-9FAB0F2652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17</a:t>
            </a:fld>
            <a:endParaRPr lang="uk-U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FFE27D-C14C-BA4A-C325-0CF098B782F1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3957185"/>
            <a:ext cx="3835483" cy="2418828"/>
            <a:chOff x="2742433" y="1234137"/>
            <a:chExt cx="6972416" cy="439711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1F3EE0-5A72-6583-43CE-B8CFD93788FE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Rectangle 32">
              <a:extLst>
                <a:ext uri="{FF2B5EF4-FFF2-40B4-BE49-F238E27FC236}">
                  <a16:creationId xmlns:a16="http://schemas.microsoft.com/office/drawing/2014/main" id="{BAA589BF-E086-980D-03B7-EE82117BA9EA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C96B8BA-49F4-5A1A-953A-21DC8D8DF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8576D9-8579-9914-3A14-D63CBD9BB4D9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C6C716B-0DFD-EC29-7120-A1F285B23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353FFD3-8AF7-B9EC-FAB9-D969E5ED82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E0B553D-1B74-B91F-5107-386BC67D75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038B849-0CA0-D911-77C9-C7CF4C9D41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6" name="Right Brace 35">
                <a:extLst>
                  <a:ext uri="{FF2B5EF4-FFF2-40B4-BE49-F238E27FC236}">
                    <a16:creationId xmlns:a16="http://schemas.microsoft.com/office/drawing/2014/main" id="{F8EBB266-74A5-D505-A856-30FB6B992048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DD86A0-712F-ED17-56A1-6C2CB3D23A2A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5"/>
                  <a:stretch>
                    <a:fillRect l="-1923" t="-2326" r="-192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1F40FC-6608-2C6B-02AB-E77AEC6AB670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593340E-578E-D3B3-9315-3D8AA30771ED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7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93F7FF-22CD-BF37-5243-E78A4A766411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8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B8FA2C-1B13-02E9-54D1-FD914BE8555B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FEA7ECF-51B7-7335-A8A3-BF493166A64A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AA99B5D-5742-290E-7201-85934D35F7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C3901F5-7B34-F45B-F15A-BDCE1B51EB9E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46B5B6-F39B-0DC9-81B8-0EE9FE648A8B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80AC194-793D-C6C3-1E63-F16F9F1EA2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CCCFA92-534E-A6E6-4859-86FAF5C13105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4091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97B4E90-163E-0BC7-8A8C-9D5F786C1BB9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11"/>
                  <a:stretch>
                    <a:fillRect l="-41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F392C1-505C-2934-530A-2A2007A5C934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120BBDD-CD20-B59C-A5AC-291EB3FD81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2BD9967-5EC1-9BDE-0C48-31E791216858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EDD0F9B-E49A-6B46-F8F5-DBEC159B8CD0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F093B3E-83EB-1F5B-B0A3-6E1FFE29F93F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EA7842C-3BB1-7656-6456-86C8376634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5D574AE-E1D1-1F72-DCFD-FD4AA8B51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77A5566-67DE-A3C6-CCF3-CF39E161F1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4A1BDE-DF06-616E-B47E-C29EC982428D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37" name="Down Arrow 36">
            <a:extLst>
              <a:ext uri="{FF2B5EF4-FFF2-40B4-BE49-F238E27FC236}">
                <a16:creationId xmlns:a16="http://schemas.microsoft.com/office/drawing/2014/main" id="{2252EBF4-896D-04CF-A9E4-56CF97E17318}"/>
              </a:ext>
            </a:extLst>
          </p:cNvPr>
          <p:cNvSpPr/>
          <p:nvPr/>
        </p:nvSpPr>
        <p:spPr>
          <a:xfrm>
            <a:off x="4325420" y="3374003"/>
            <a:ext cx="698643" cy="733363"/>
          </a:xfrm>
          <a:prstGeom prst="downArrow">
            <a:avLst/>
          </a:prstGeom>
          <a:gradFill>
            <a:lin ang="16200000" scaled="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7471983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85ABBEF5-C72E-5248-8D2F-DB8952B05B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8639" y="1371600"/>
                <a:ext cx="8772309" cy="5106838"/>
              </a:xfrm>
            </p:spPr>
            <p:txBody>
              <a:bodyPr/>
              <a:lstStyle/>
              <a:p>
                <a:r>
                  <a:rPr lang="en-US" u="sng" dirty="0"/>
                  <a:t>Goal:</a:t>
                </a:r>
                <a:r>
                  <a:rPr lang="en-US" dirty="0"/>
                  <a:t> bounding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Workload: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Intuition for why workload is easier to analyze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85ABBEF5-C72E-5248-8D2F-DB8952B05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8639" y="1371600"/>
                <a:ext cx="8772309" cy="5106838"/>
              </a:xfrm>
              <a:blipFill>
                <a:blip r:embed="rId3"/>
                <a:stretch>
                  <a:fillRect l="-723" t="-10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3FE0F1E-18D8-374A-95B7-03DAC347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proof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07FF9-913E-6549-8843-CBEF2BCD03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18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30F579-1793-70D8-9130-53A62EDC858E}"/>
                  </a:ext>
                </a:extLst>
              </p:cNvPr>
              <p:cNvSpPr txBox="1"/>
              <p:nvPr/>
            </p:nvSpPr>
            <p:spPr>
              <a:xfrm>
                <a:off x="8489327" y="281587"/>
                <a:ext cx="3265288" cy="1351267"/>
              </a:xfrm>
              <a:prstGeom prst="rect">
                <a:avLst/>
              </a:prstGeom>
              <a:noFill/>
              <a:ln w="12700" cap="flat">
                <a:solidFill>
                  <a:schemeClr val="accent1">
                    <a:shade val="95000"/>
                    <a:satMod val="104999"/>
                  </a:schemeClr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40" tIns="50800" rIns="50800" bIns="50800" numCol="1" spcCol="38100" rtlCol="0" anchor="ctr">
                <a:noAutofit/>
              </a:bodyPr>
              <a:lstStyle/>
              <a:p>
                <a:pPr defTabSz="825500" hangingPunct="0"/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𝑄</m:t>
                        </m:r>
                      </m:e>
                      <m:sub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: </a:t>
                </a: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# class</a:t>
                </a:r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cap="none" spc="0" normalizeH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Light"/>
                      </a:rPr>
                      <m:t>𝑖</m:t>
                    </m:r>
                  </m:oMath>
                </a14:m>
                <a:r>
                  <a: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jobs in </a:t>
                </a:r>
                <a:r>
                  <a:rPr kumimoji="0" lang="en-US" sz="2000" b="0" i="0" u="sng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queue</a:t>
                </a:r>
              </a:p>
              <a:p>
                <a:pPr defTabSz="825500"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ym typeface="Helvetica Light"/>
                  </a:rPr>
                  <a:t>: </a:t>
                </a: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# class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Light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 jobs in </a:t>
                </a:r>
                <a:r>
                  <a:rPr lang="en-US" sz="2000" u="sng" dirty="0">
                    <a:solidFill>
                      <a:srgbClr val="000000"/>
                    </a:solidFill>
                    <a:sym typeface="Helvetica Light"/>
                  </a:rPr>
                  <a:t>system</a:t>
                </a:r>
              </a:p>
              <a:p>
                <a:pPr defTabSz="825500"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Helvetica Ligh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ym typeface="Helvetica Light"/>
                  </a:rPr>
                  <a:t>: </a:t>
                </a:r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# class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Helvetica Light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sym typeface="Helvetica Light"/>
                  </a:rPr>
                  <a:t> jobs in </a:t>
                </a:r>
                <a:r>
                  <a:rPr lang="en-US" sz="2000" u="sng" dirty="0">
                    <a:solidFill>
                      <a:srgbClr val="000000"/>
                    </a:solidFill>
                    <a:sym typeface="Helvetica Light"/>
                  </a:rPr>
                  <a:t>service</a:t>
                </a:r>
              </a:p>
              <a:p>
                <a:pPr defTabSz="82550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𝑄</m:t>
                          </m:r>
                        </m:e>
                        <m:sub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𝑖</m:t>
                          </m:r>
                        </m:sub>
                      </m:sSub>
                      <m:r>
                        <a:rPr kumimoji="0" lang="en-US" sz="2000" b="0" i="1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sSub>
                        <m:sSubPr>
                          <m:ctrlP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</m:e>
                        <m:sub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𝑖</m:t>
                          </m:r>
                        </m:sub>
                      </m:sSub>
                      <m:r>
                        <a:rPr kumimoji="0" lang="en-US" sz="2000" b="0" i="1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−</m:t>
                      </m:r>
                      <m:sSub>
                        <m:sSubPr>
                          <m:ctrlP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𝑍</m:t>
                          </m:r>
                        </m:e>
                        <m:sub>
                          <m:r>
                            <a:rPr kumimoji="0" lang="en-US" sz="2000" b="0" i="1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2000" b="0" i="0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30F579-1793-70D8-9130-53A62EDC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327" y="281587"/>
                <a:ext cx="3265288" cy="1351267"/>
              </a:xfrm>
              <a:prstGeom prst="rect">
                <a:avLst/>
              </a:prstGeom>
              <a:blipFill>
                <a:blip r:embed="rId4"/>
                <a:stretch>
                  <a:fillRect l="-775" r="-388" b="-1835"/>
                </a:stretch>
              </a:blipFill>
              <a:ln w="12700" cap="flat">
                <a:solidFill>
                  <a:schemeClr val="accent1">
                    <a:shade val="95000"/>
                    <a:satMod val="104999"/>
                  </a:schemeClr>
                </a:solidFill>
                <a:prstDash val="sysDash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1CDBBC-F1DD-3CFB-1345-A68902F119B5}"/>
                  </a:ext>
                </a:extLst>
              </p:cNvPr>
              <p:cNvSpPr txBox="1"/>
              <p:nvPr/>
            </p:nvSpPr>
            <p:spPr>
              <a:xfrm>
                <a:off x="2278638" y="4989206"/>
                <a:ext cx="960810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𝑛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−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𝛿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1CDBBC-F1DD-3CFB-1345-A68902F11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638" y="4989206"/>
                <a:ext cx="960810" cy="4719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8F71F8A-F9A7-90DC-A28F-8572BFEFAA35}"/>
              </a:ext>
            </a:extLst>
          </p:cNvPr>
          <p:cNvSpPr txBox="1"/>
          <p:nvPr/>
        </p:nvSpPr>
        <p:spPr>
          <a:xfrm>
            <a:off x="3296118" y="4989206"/>
            <a:ext cx="306445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sym typeface="Helvetica Light"/>
              </a:rPr>
              <a:t>total # busy servers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2B73A9-60F0-ED30-25A5-7AA142430082}"/>
                  </a:ext>
                </a:extLst>
              </p:cNvPr>
              <p:cNvSpPr txBox="1"/>
              <p:nvPr/>
            </p:nvSpPr>
            <p:spPr>
              <a:xfrm>
                <a:off x="5708553" y="1891715"/>
                <a:ext cx="4726357" cy="11410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 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2B73A9-60F0-ED30-25A5-7AA142430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553" y="1891715"/>
                <a:ext cx="4726357" cy="1141082"/>
              </a:xfrm>
              <a:prstGeom prst="rect">
                <a:avLst/>
              </a:prstGeom>
              <a:blipFill>
                <a:blip r:embed="rId6"/>
                <a:stretch>
                  <a:fillRect l="-4278" t="-98901" r="-1070" b="-15494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BEEC6D-D34C-F297-B976-B9256EFE66B8}"/>
                  </a:ext>
                </a:extLst>
              </p:cNvPr>
              <p:cNvSpPr txBox="1"/>
              <p:nvPr/>
            </p:nvSpPr>
            <p:spPr>
              <a:xfrm>
                <a:off x="4796829" y="3880693"/>
                <a:ext cx="5334794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BEEC6D-D34C-F297-B976-B9256EFE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829" y="3880693"/>
                <a:ext cx="5334794" cy="471924"/>
              </a:xfrm>
              <a:prstGeom prst="rect">
                <a:avLst/>
              </a:prstGeom>
              <a:blipFill>
                <a:blip r:embed="rId7"/>
                <a:stretch>
                  <a:fillRect l="-47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Brace 22">
            <a:extLst>
              <a:ext uri="{FF2B5EF4-FFF2-40B4-BE49-F238E27FC236}">
                <a16:creationId xmlns:a16="http://schemas.microsoft.com/office/drawing/2014/main" id="{B7CF11FF-CCEA-D1D8-306D-385CA9D93F48}"/>
              </a:ext>
            </a:extLst>
          </p:cNvPr>
          <p:cNvSpPr/>
          <p:nvPr/>
        </p:nvSpPr>
        <p:spPr>
          <a:xfrm rot="16200000">
            <a:off x="2587593" y="4346390"/>
            <a:ext cx="342900" cy="1017479"/>
          </a:xfrm>
          <a:prstGeom prst="leftBrace">
            <a:avLst>
              <a:gd name="adj1" fmla="val 34420"/>
              <a:gd name="adj2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A3BD7851-11C9-6F1E-4F86-0B0D431BAFA7}"/>
              </a:ext>
            </a:extLst>
          </p:cNvPr>
          <p:cNvSpPr/>
          <p:nvPr/>
        </p:nvSpPr>
        <p:spPr>
          <a:xfrm rot="16200000">
            <a:off x="3958996" y="4346390"/>
            <a:ext cx="342900" cy="1017479"/>
          </a:xfrm>
          <a:prstGeom prst="leftBrace">
            <a:avLst>
              <a:gd name="adj1" fmla="val 34420"/>
              <a:gd name="adj2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1D4D9F-4E9F-1843-6303-FABDC1D15A31}"/>
              </a:ext>
            </a:extLst>
          </p:cNvPr>
          <p:cNvSpPr txBox="1"/>
          <p:nvPr/>
        </p:nvSpPr>
        <p:spPr>
          <a:xfrm>
            <a:off x="4958385" y="3347501"/>
            <a:ext cx="545162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6"/>
                </a:solidFill>
                <a:sym typeface="Helvetica Light"/>
              </a:rPr>
              <a:t>when enough jobs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10F59-52E8-6F42-8EED-70D85FAFC24F}"/>
              </a:ext>
            </a:extLst>
          </p:cNvPr>
          <p:cNvSpPr txBox="1"/>
          <p:nvPr/>
        </p:nvSpPr>
        <p:spPr>
          <a:xfrm>
            <a:off x="410234" y="4319038"/>
            <a:ext cx="87203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sym typeface="Helvetica Light"/>
              </a:rPr>
              <a:t>“drift”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52CDC1-0276-3642-919D-8131F9994A62}"/>
                  </a:ext>
                </a:extLst>
              </p:cNvPr>
              <p:cNvSpPr txBox="1"/>
              <p:nvPr/>
            </p:nvSpPr>
            <p:spPr>
              <a:xfrm>
                <a:off x="1509170" y="5727791"/>
                <a:ext cx="1482265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Δ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𝑊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≥−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52CDC1-0276-3642-919D-8131F999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170" y="5727791"/>
                <a:ext cx="1482265" cy="471924"/>
              </a:xfrm>
              <a:prstGeom prst="rect">
                <a:avLst/>
              </a:prstGeom>
              <a:blipFill>
                <a:blip r:embed="rId8"/>
                <a:stretch>
                  <a:fillRect l="-25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A8C6EDF-9D7A-0346-83E8-44CE4457FACA}"/>
              </a:ext>
            </a:extLst>
          </p:cNvPr>
          <p:cNvSpPr txBox="1"/>
          <p:nvPr/>
        </p:nvSpPr>
        <p:spPr>
          <a:xfrm>
            <a:off x="7060254" y="5607404"/>
            <a:ext cx="285815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sym typeface="Helvetica Light"/>
              </a:rPr>
              <a:t>Policy independent!</a:t>
            </a:r>
          </a:p>
        </p:txBody>
      </p:sp>
    </p:spTree>
    <p:extLst>
      <p:ext uri="{BB962C8B-B14F-4D97-AF65-F5344CB8AC3E}">
        <p14:creationId xmlns:p14="http://schemas.microsoft.com/office/powerpoint/2010/main" val="2648261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20" grpId="0" uiExpand="1" build="p" animBg="1"/>
      <p:bldP spid="21" grpId="0"/>
      <p:bldP spid="22" grpId="0"/>
      <p:bldP spid="3" grpId="0"/>
      <p:bldP spid="8" grpId="0"/>
      <p:bldP spid="23" grpId="0" animBg="1"/>
      <p:bldP spid="24" grpId="0" animBg="1"/>
      <p:bldP spid="25" grpId="0"/>
      <p:bldP spid="5" grpId="0"/>
      <p:bldP spid="16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0F1E-18D8-374A-95B7-03DAC347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proof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07FF9-913E-6549-8843-CBEF2BCD03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19</a:t>
            </a:fld>
            <a:endParaRPr lang="uk-UA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689969-30E2-B34B-964A-EC027DB0BE71}"/>
              </a:ext>
            </a:extLst>
          </p:cNvPr>
          <p:cNvSpPr/>
          <p:nvPr/>
        </p:nvSpPr>
        <p:spPr>
          <a:xfrm>
            <a:off x="1158477" y="5095982"/>
            <a:ext cx="2103120" cy="107441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FCFS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7394B6D-A872-B444-A4AB-F11656778656}"/>
                  </a:ext>
                </a:extLst>
              </p:cNvPr>
              <p:cNvSpPr/>
              <p:nvPr/>
            </p:nvSpPr>
            <p:spPr>
              <a:xfrm>
                <a:off x="4043103" y="5095982"/>
                <a:ext cx="3312493" cy="1074414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0" rIns="50800" bIns="50800" numCol="1" spcCol="38100" rtlCol="0" anchor="ctr">
                <a:noAutofit/>
              </a:bodyPr>
              <a:lstStyle/>
              <a:p>
                <a:pPr algn="ctr" defTabSz="825500" hangingPunct="0"/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Lower bound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waiting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time</m:t>
                        </m:r>
                      </m:e>
                    </m:d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7394B6D-A872-B444-A4AB-F11656778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103" y="5095982"/>
                <a:ext cx="3312493" cy="107441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167B75-958C-1442-A803-DB1709807741}"/>
              </a:ext>
            </a:extLst>
          </p:cNvPr>
          <p:cNvSpPr/>
          <p:nvPr/>
        </p:nvSpPr>
        <p:spPr>
          <a:xfrm>
            <a:off x="8137102" y="5095982"/>
            <a:ext cx="2574441" cy="107441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0" rIns="50800" bIns="50800" numCol="1" spcCol="38100" rtlCol="0" anchor="ctr">
            <a:noAutofit/>
          </a:bodyPr>
          <a:lstStyle/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Optimal policy: </a:t>
            </a:r>
          </a:p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P-Priority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1FE8A5-0A02-9349-8B1A-611690191B20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5699349" y="2621018"/>
            <a:ext cx="1" cy="2474964"/>
          </a:xfrm>
          <a:prstGeom prst="straightConnector1">
            <a:avLst/>
          </a:prstGeom>
          <a:noFill/>
          <a:ln w="50800" cap="flat">
            <a:solidFill>
              <a:schemeClr val="accent6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9A1F298-D47E-454D-817E-F513AEAF1692}"/>
                  </a:ext>
                </a:extLst>
              </p:cNvPr>
              <p:cNvSpPr/>
              <p:nvPr/>
            </p:nvSpPr>
            <p:spPr>
              <a:xfrm>
                <a:off x="3409502" y="1546604"/>
                <a:ext cx="4579693" cy="1074414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0" rIns="50800" bIns="50800" numCol="1" spcCol="38100" rtlCol="0" anchor="ctr">
                <a:noAutofit/>
              </a:bodyPr>
              <a:lstStyle/>
              <a:p>
                <a:pPr algn="ctr" defTabSz="825500" hangingPunct="0"/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Tight bounds 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9A1F298-D47E-454D-817E-F513AEAF1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502" y="1546604"/>
                <a:ext cx="4579693" cy="107441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124EC5-E36F-A14C-918B-5F3323BA1DD0}"/>
                  </a:ext>
                </a:extLst>
              </p:cNvPr>
              <p:cNvSpPr txBox="1"/>
              <p:nvPr/>
            </p:nvSpPr>
            <p:spPr>
              <a:xfrm>
                <a:off x="1902571" y="3364978"/>
                <a:ext cx="2150845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𝑄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𝑖</m:t>
                          </m:r>
                        </m:sub>
                      </m:sSub>
                      <m:r>
                        <a:rPr kumimoji="0" lang="en-US" sz="2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approx</m:t>
                      </m:r>
                      <m:r>
                        <a:rPr lang="en-US" sz="240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sym typeface="Helvetica Light"/>
                        </a:rPr>
                        <m:t>.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Light"/>
                        </a:rPr>
                        <m:t>∝</m:t>
                      </m:r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Light"/>
                            </a:rPr>
                            <m:t>𝜆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Light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124EC5-E36F-A14C-918B-5F3323BA1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571" y="3364978"/>
                <a:ext cx="2150845" cy="471924"/>
              </a:xfrm>
              <a:prstGeom prst="rect">
                <a:avLst/>
              </a:prstGeom>
              <a:blipFill>
                <a:blip r:embed="rId6"/>
                <a:stretch>
                  <a:fillRect l="-2924" b="-1842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00EE18E-7124-474E-91D3-C01A4DFDC243}"/>
                  </a:ext>
                </a:extLst>
              </p:cNvPr>
              <p:cNvSpPr txBox="1"/>
              <p:nvPr/>
            </p:nvSpPr>
            <p:spPr>
              <a:xfrm>
                <a:off x="3961395" y="3631600"/>
                <a:ext cx="3474720" cy="121001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 hangingPunct="0"/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FillTx/>
                    <a:sym typeface="Helvetica Light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20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accent6"/>
                  </a:solidFill>
                  <a:effectLst/>
                  <a:uFillTx/>
                  <a:sym typeface="Helvetica Light"/>
                </a:endParaRPr>
              </a:p>
              <a:p>
                <a:pPr algn="ctr" defTabSz="825500" hangingPunct="0"/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FillTx/>
                    <a:sym typeface="Helvetica Light"/>
                  </a:rPr>
                  <a:t>s.t.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accent6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00EE18E-7124-474E-91D3-C01A4DFDC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395" y="3631600"/>
                <a:ext cx="3474720" cy="1210011"/>
              </a:xfrm>
              <a:prstGeom prst="rect">
                <a:avLst/>
              </a:prstGeom>
              <a:blipFill>
                <a:blip r:embed="rId7"/>
                <a:stretch>
                  <a:fillRect l="-2190" b="-375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CB8D2A-9FB4-7B40-825B-AC8ED2FD3F6E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 flipH="1">
            <a:off x="2210037" y="2621018"/>
            <a:ext cx="3489312" cy="2474964"/>
          </a:xfrm>
          <a:prstGeom prst="straightConnector1">
            <a:avLst/>
          </a:prstGeom>
          <a:noFill/>
          <a:ln w="50800" cap="flat">
            <a:solidFill>
              <a:schemeClr val="accent6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EAE3D8-3F47-554D-BE70-B2FB54D27406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>
            <a:off x="5699349" y="2621018"/>
            <a:ext cx="3724974" cy="2474964"/>
          </a:xfrm>
          <a:prstGeom prst="straightConnector1">
            <a:avLst/>
          </a:prstGeom>
          <a:noFill/>
          <a:ln w="50800" cap="flat">
            <a:solidFill>
              <a:schemeClr val="accent6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47DBFB-C124-ED46-995B-0F58F87750E2}"/>
              </a:ext>
            </a:extLst>
          </p:cNvPr>
          <p:cNvSpPr txBox="1"/>
          <p:nvPr/>
        </p:nvSpPr>
        <p:spPr>
          <a:xfrm>
            <a:off x="7372446" y="3180312"/>
            <a:ext cx="391362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6"/>
                </a:solidFill>
                <a:sym typeface="Helvetica Light"/>
              </a:rPr>
              <a:t>Subsystem for jobs of priority classes 1, 2, … </a:t>
            </a:r>
            <a:r>
              <a:rPr lang="en-US" sz="2400" dirty="0" err="1">
                <a:solidFill>
                  <a:schemeClr val="accent6"/>
                </a:solidFill>
                <a:sym typeface="Helvetica Light"/>
              </a:rPr>
              <a:t>i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331107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0F1E-18D8-374A-95B7-03DAC347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proof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07FF9-913E-6549-8843-CBEF2BCD03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20</a:t>
            </a:fld>
            <a:endParaRPr lang="uk-UA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167B75-958C-1442-A803-DB1709807741}"/>
              </a:ext>
            </a:extLst>
          </p:cNvPr>
          <p:cNvSpPr/>
          <p:nvPr/>
        </p:nvSpPr>
        <p:spPr>
          <a:xfrm>
            <a:off x="8137102" y="5095982"/>
            <a:ext cx="2574441" cy="107441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0" rIns="50800" bIns="50800" numCol="1" spcCol="38100" rtlCol="0" anchor="ctr">
            <a:noAutofit/>
          </a:bodyPr>
          <a:lstStyle/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Optimal policy: </a:t>
            </a:r>
          </a:p>
          <a:p>
            <a:pPr algn="ctr" defTabSz="825500" hangingPunct="0"/>
            <a:r>
              <a:rPr lang="en-US" sz="2400" dirty="0">
                <a:solidFill>
                  <a:schemeClr val="tx1"/>
                </a:solidFill>
                <a:sym typeface="Helvetica Light"/>
              </a:rPr>
              <a:t>P-Priority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9A1F298-D47E-454D-817E-F513AEAF1692}"/>
                  </a:ext>
                </a:extLst>
              </p:cNvPr>
              <p:cNvSpPr/>
              <p:nvPr/>
            </p:nvSpPr>
            <p:spPr>
              <a:xfrm>
                <a:off x="3409502" y="1546604"/>
                <a:ext cx="4579693" cy="1074414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0" rIns="50800" bIns="50800" numCol="1" spcCol="38100" rtlCol="0" anchor="ctr">
                <a:noAutofit/>
              </a:bodyPr>
              <a:lstStyle/>
              <a:p>
                <a:pPr algn="ctr" defTabSz="825500" hangingPunct="0"/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Tight bounds 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9A1F298-D47E-454D-817E-F513AEAF1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502" y="1546604"/>
                <a:ext cx="4579693" cy="107441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EAE3D8-3F47-554D-BE70-B2FB54D27406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>
            <a:off x="5699349" y="2621018"/>
            <a:ext cx="3724974" cy="2474964"/>
          </a:xfrm>
          <a:prstGeom prst="straightConnector1">
            <a:avLst/>
          </a:prstGeom>
          <a:noFill/>
          <a:ln w="50800" cap="flat">
            <a:solidFill>
              <a:schemeClr val="accent6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47DBFB-C124-ED46-995B-0F58F87750E2}"/>
              </a:ext>
            </a:extLst>
          </p:cNvPr>
          <p:cNvSpPr txBox="1"/>
          <p:nvPr/>
        </p:nvSpPr>
        <p:spPr>
          <a:xfrm>
            <a:off x="7372446" y="3180312"/>
            <a:ext cx="391362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6"/>
                </a:solidFill>
                <a:sym typeface="Helvetica Light"/>
              </a:rPr>
              <a:t>Different subsystems in different traffic regimes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8EBBB3-F763-BE9E-C6C6-E85004C858B9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713249"/>
            <a:ext cx="3835483" cy="2418828"/>
            <a:chOff x="2742433" y="1234137"/>
            <a:chExt cx="6972416" cy="4397118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7E101C04-CAA2-E0D1-698A-A38AA0244EB1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5A9201A-879A-7A1F-1893-D9A8727EB8DD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700580C-704A-08E6-F82F-63A87AF9A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6A1D0F-1CEC-7734-53A2-920A5377E49B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80150E9-9838-5EC2-4A30-4E5C4F2A6B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ACFF008-F6C3-66DD-AF83-983FA00F48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AF88D3-6015-5380-0459-E47B115AAF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0FE9B8B-3716-852D-38B8-7E3FC3C58E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56" name="Right Brace 55">
                <a:extLst>
                  <a:ext uri="{FF2B5EF4-FFF2-40B4-BE49-F238E27FC236}">
                    <a16:creationId xmlns:a16="http://schemas.microsoft.com/office/drawing/2014/main" id="{8A89EE1D-F26D-8934-CDF7-3B94769C2AF8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DBC4AE-16C6-3B94-8BCE-F2D6C23186BE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9BF7D73-2815-2246-88DC-C3245C492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5"/>
                  <a:stretch>
                    <a:fillRect l="-1923" t="-2326" r="-192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9B3FDF3-1A80-FE85-0523-B12CF4D2D228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DED27F-7A68-EA46-8D76-F0E4D87AC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B1D412A-CCD6-9BCB-D87F-2ABF10B1A8EC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6463222-92AE-A743-A111-D330219D63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7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0E0AE0B-BEFD-2B00-7A0F-9245167F607B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DD60AB-670F-BD4B-AA96-4D6F41A1A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8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4D5238-0731-0586-138E-0CC1416D9532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8E9EBFF-CFD1-EFA4-FD10-D120EEC11328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5C87C9A-32C5-1849-9D65-767672D5A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850F6E8-15C7-1C3A-6AF4-CDD7C58F40A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8A734C-4CD8-DAC5-71BF-5861E231E73F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A53CD7-784B-F72A-17DA-9BD0E4EDB843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B47CBED1-F85A-25F5-9635-7B4EAF344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D155A56-6BE3-6FD9-5E45-FF396835DF9E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230F85A7-D96A-1F45-9208-692D62B4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4091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59E3689-6DC6-971C-6C23-39E5BB8971F5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502E1A3-47A6-D34D-83B7-F46A876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11"/>
                  <a:stretch>
                    <a:fillRect l="-41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A228DEF-F5EE-166C-F1B1-6332AD540CDC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A1F3F2B-5CF8-94DA-3FFD-EA33933488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2D239CEB-9FC6-88AD-7DB2-8D43687195D3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C2F6776-B293-3A41-B06D-CFA5245BA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A4AA0E0-7845-4C4E-A47E-7EE04125892A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E761F28-7FEA-109B-3C70-B28DED1AE9EA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4D8BD0E-1B80-AAFD-4B62-87C6B4CCCC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BD5849-4901-ECC5-7910-3BEDD9292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48F488-DD29-BF58-B022-39DE7AD961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CC25E68-5285-86A2-3A13-0BC48DE9D51D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C537F6-EFAC-026E-76A6-4D0C08CFCEB9}"/>
              </a:ext>
            </a:extLst>
          </p:cNvPr>
          <p:cNvGrpSpPr/>
          <p:nvPr/>
        </p:nvGrpSpPr>
        <p:grpSpPr>
          <a:xfrm>
            <a:off x="2641600" y="5021722"/>
            <a:ext cx="5347595" cy="1243114"/>
            <a:chOff x="2627086" y="5075434"/>
            <a:chExt cx="5347595" cy="12431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F01466C-03C1-D605-E9D0-EF97850AD956}"/>
                    </a:ext>
                  </a:extLst>
                </p:cNvPr>
                <p:cNvSpPr txBox="1"/>
                <p:nvPr/>
              </p:nvSpPr>
              <p:spPr>
                <a:xfrm>
                  <a:off x="2767677" y="5075434"/>
                  <a:ext cx="4558299" cy="4719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Light"/>
                    </a:rPr>
                    <a:t>server needs: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ℓ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≤</m:t>
                      </m:r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ℓ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Light"/>
                        </a:rPr>
                        <m:t>≤…≤</m:t>
                      </m:r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ℓ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𝐾</m:t>
                          </m:r>
                        </m:sub>
                      </m:sSub>
                    </m:oMath>
                  </a14:m>
                  <a:endPara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F01466C-03C1-D605-E9D0-EF97850AD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677" y="5075434"/>
                  <a:ext cx="4558299" cy="471924"/>
                </a:xfrm>
                <a:prstGeom prst="rect">
                  <a:avLst/>
                </a:prstGeom>
                <a:blipFill>
                  <a:blip r:embed="rId13"/>
                  <a:stretch>
                    <a:fillRect l="-2222" t="-7895" b="-2894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D70C09-00EB-5403-DAB4-1C9015E97115}"/>
                </a:ext>
              </a:extLst>
            </p:cNvPr>
            <p:cNvGrpSpPr/>
            <p:nvPr/>
          </p:nvGrpSpPr>
          <p:grpSpPr>
            <a:xfrm>
              <a:off x="4044093" y="5608655"/>
              <a:ext cx="3831797" cy="709893"/>
              <a:chOff x="2588609" y="4900413"/>
              <a:chExt cx="3831797" cy="709893"/>
            </a:xfrm>
          </p:grpSpPr>
          <p:sp>
            <p:nvSpPr>
              <p:cNvPr id="17" name="Left Arrow 16">
                <a:extLst>
                  <a:ext uri="{FF2B5EF4-FFF2-40B4-BE49-F238E27FC236}">
                    <a16:creationId xmlns:a16="http://schemas.microsoft.com/office/drawing/2014/main" id="{4D95725D-FD43-79DC-486D-F32087D2622A}"/>
                  </a:ext>
                </a:extLst>
              </p:cNvPr>
              <p:cNvSpPr/>
              <p:nvPr/>
            </p:nvSpPr>
            <p:spPr>
              <a:xfrm>
                <a:off x="3238516" y="4900413"/>
                <a:ext cx="2631976" cy="248203"/>
              </a:xfrm>
              <a:prstGeom prst="leftArrow">
                <a:avLst/>
              </a:prstGeom>
              <a:gradFill>
                <a:lin ang="0" scaled="0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282F8B-B78A-DC03-E053-A2D055360A18}"/>
                  </a:ext>
                </a:extLst>
              </p:cNvPr>
              <p:cNvSpPr txBox="1"/>
              <p:nvPr/>
            </p:nvSpPr>
            <p:spPr>
              <a:xfrm>
                <a:off x="2588609" y="5199937"/>
                <a:ext cx="1457130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C00000"/>
                    </a:solidFill>
                    <a:sym typeface="Helvetica Light"/>
                  </a:rPr>
                  <a:t>h</a:t>
                </a: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igh priority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BFCBAB-9EDB-13EB-4FD0-20E6A1DB82E9}"/>
                  </a:ext>
                </a:extLst>
              </p:cNvPr>
              <p:cNvSpPr txBox="1"/>
              <p:nvPr/>
            </p:nvSpPr>
            <p:spPr>
              <a:xfrm>
                <a:off x="5077090" y="5197973"/>
                <a:ext cx="1343316" cy="410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Helvetica Light"/>
                  </a:rPr>
                  <a:t>low</a:t>
                </a:r>
                <a:r>
                  <a: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priority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DBF7AE0-D30D-D705-D134-70A417E90567}"/>
                </a:ext>
              </a:extLst>
            </p:cNvPr>
            <p:cNvSpPr/>
            <p:nvPr/>
          </p:nvSpPr>
          <p:spPr>
            <a:xfrm>
              <a:off x="2627086" y="5075434"/>
              <a:ext cx="5347595" cy="1241150"/>
            </a:xfrm>
            <a:prstGeom prst="roundRect">
              <a:avLst>
                <a:gd name="adj" fmla="val 9650"/>
              </a:avLst>
            </a:prstGeom>
            <a:noFill/>
            <a:ln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Placeholder 2">
                <a:extLst>
                  <a:ext uri="{FF2B5EF4-FFF2-40B4-BE49-F238E27FC236}">
                    <a16:creationId xmlns:a16="http://schemas.microsoft.com/office/drawing/2014/main" id="{7795A0A1-602E-D2AA-A32F-E44850AE78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84616" y="2751189"/>
                <a:ext cx="5800609" cy="2082068"/>
              </a:xfrm>
            </p:spPr>
            <p:txBody>
              <a:bodyPr>
                <a:normAutofit/>
              </a:bodyPr>
              <a:lstStyle/>
              <a:p>
                <a:pPr marL="0" indent="0" defTabSz="825500" hangingPunct="0">
                  <a:spcBef>
                    <a:spcPts val="0"/>
                  </a:spcBef>
                  <a:buSzTx/>
                  <a:buNone/>
                </a:pPr>
                <a:r>
                  <a:rPr lang="en-US" sz="2000" dirty="0"/>
                  <a:t>Only subsystem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is in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dirty="0"/>
                  <a:t> triangle while others are in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blue</a:t>
                </a:r>
                <a:r>
                  <a:rPr lang="en-US" sz="2000" dirty="0"/>
                  <a:t>:</a:t>
                </a:r>
              </a:p>
              <a:p>
                <a:pPr marL="342900" indent="-342900" defTabSz="825500" hangingPunct="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show that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sz="2000" dirty="0"/>
                  <a:t> decays fast with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342900" indent="-342900" defTabSz="825500" hangingPunct="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Queue mainly consists of class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Text Placeholder 2">
                <a:extLst>
                  <a:ext uri="{FF2B5EF4-FFF2-40B4-BE49-F238E27FC236}">
                    <a16:creationId xmlns:a16="http://schemas.microsoft.com/office/drawing/2014/main" id="{7795A0A1-602E-D2AA-A32F-E44850AE7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4616" y="2751189"/>
                <a:ext cx="5800609" cy="2082068"/>
              </a:xfrm>
              <a:blipFill>
                <a:blip r:embed="rId14"/>
                <a:stretch>
                  <a:fillRect l="-1528"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4283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772C-15BD-0B4B-9754-685EF276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C267E-5CCD-FB4C-90E3-BE8AF63FE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bounds under general arrival and departure processes?</a:t>
            </a:r>
          </a:p>
          <a:p>
            <a:r>
              <a:rPr lang="en-US" dirty="0"/>
              <a:t>Policies that degrade gracefully in even heavier traffic regimes?</a:t>
            </a:r>
          </a:p>
          <a:p>
            <a:r>
              <a:rPr lang="en-US" dirty="0"/>
              <a:t>Preemption or not?</a:t>
            </a:r>
          </a:p>
          <a:p>
            <a:r>
              <a:rPr lang="en-US" dirty="0"/>
              <a:t>Multi-dimensional resources?</a:t>
            </a:r>
          </a:p>
          <a:p>
            <a:r>
              <a:rPr lang="en-US" dirty="0"/>
              <a:t>Time-varying resource requirement?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0197D-1231-0E4F-BCAE-AF9F79C45B2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21</a:t>
            </a:fld>
            <a:endParaRPr lang="uk-UA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DC0B1D-3140-B546-B0B5-B6BEBCF6F1EB}"/>
              </a:ext>
            </a:extLst>
          </p:cNvPr>
          <p:cNvGrpSpPr>
            <a:grpSpLocks noChangeAspect="1"/>
          </p:cNvGrpSpPr>
          <p:nvPr/>
        </p:nvGrpSpPr>
        <p:grpSpPr>
          <a:xfrm>
            <a:off x="7567317" y="2839735"/>
            <a:ext cx="3835483" cy="2418828"/>
            <a:chOff x="2742433" y="1234137"/>
            <a:chExt cx="6972416" cy="4397118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89C0524-9018-C042-B55D-6DA1ADEB92DE}"/>
                </a:ext>
              </a:extLst>
            </p:cNvPr>
            <p:cNvSpPr/>
            <p:nvPr/>
          </p:nvSpPr>
          <p:spPr>
            <a:xfrm>
              <a:off x="3479154" y="2573551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0 w 3656588"/>
                <a:gd name="connsiteY2" fmla="*/ 2437976 h 2437976"/>
                <a:gd name="connsiteX3" fmla="*/ 0 w 3656588"/>
                <a:gd name="connsiteY3" fmla="*/ 0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0"/>
                  </a:moveTo>
                  <a:lnTo>
                    <a:pt x="3656588" y="0"/>
                  </a:lnTo>
                  <a:lnTo>
                    <a:pt x="0" y="2437976"/>
                  </a:lnTo>
                  <a:lnTo>
                    <a:pt x="0" y="0"/>
                  </a:lnTo>
                  <a:close/>
                </a:path>
              </a:pathLst>
            </a:custGeom>
            <a:pattFill prst="pct10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 w="25400">
              <a:noFill/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" name="Rectangle 32">
              <a:extLst>
                <a:ext uri="{FF2B5EF4-FFF2-40B4-BE49-F238E27FC236}">
                  <a16:creationId xmlns:a16="http://schemas.microsoft.com/office/drawing/2014/main" id="{D4E0CC25-E709-F847-BE84-1B37C70EC008}"/>
                </a:ext>
              </a:extLst>
            </p:cNvPr>
            <p:cNvSpPr/>
            <p:nvPr/>
          </p:nvSpPr>
          <p:spPr>
            <a:xfrm>
              <a:off x="3479153" y="2567864"/>
              <a:ext cx="3656588" cy="2437976"/>
            </a:xfrm>
            <a:custGeom>
              <a:avLst/>
              <a:gdLst>
                <a:gd name="connsiteX0" fmla="*/ 0 w 3656588"/>
                <a:gd name="connsiteY0" fmla="*/ 0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  <a:gd name="connsiteX4" fmla="*/ 0 w 3656588"/>
                <a:gd name="connsiteY4" fmla="*/ 0 h 2437976"/>
                <a:gd name="connsiteX0" fmla="*/ 0 w 3656588"/>
                <a:gd name="connsiteY0" fmla="*/ 2437976 h 2437976"/>
                <a:gd name="connsiteX1" fmla="*/ 3656588 w 3656588"/>
                <a:gd name="connsiteY1" fmla="*/ 0 h 2437976"/>
                <a:gd name="connsiteX2" fmla="*/ 3656588 w 3656588"/>
                <a:gd name="connsiteY2" fmla="*/ 2437976 h 2437976"/>
                <a:gd name="connsiteX3" fmla="*/ 0 w 3656588"/>
                <a:gd name="connsiteY3" fmla="*/ 2437976 h 243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588" h="2437976">
                  <a:moveTo>
                    <a:pt x="0" y="2437976"/>
                  </a:moveTo>
                  <a:lnTo>
                    <a:pt x="3656588" y="0"/>
                  </a:lnTo>
                  <a:lnTo>
                    <a:pt x="3656588" y="2437976"/>
                  </a:lnTo>
                  <a:lnTo>
                    <a:pt x="0" y="2437976"/>
                  </a:lnTo>
                  <a:close/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E68C8F-6CA0-2948-85C8-1DB308C18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9154" y="1692072"/>
              <a:ext cx="0" cy="3319455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C3548C9-AA08-BE4D-A0D2-E099515B2A8A}"/>
                </a:ext>
              </a:extLst>
            </p:cNvPr>
            <p:cNvGrpSpPr/>
            <p:nvPr/>
          </p:nvGrpSpPr>
          <p:grpSpPr>
            <a:xfrm>
              <a:off x="2742433" y="1559216"/>
              <a:ext cx="487741" cy="826193"/>
              <a:chOff x="1596296" y="1677490"/>
              <a:chExt cx="487741" cy="82619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3BE6196-BA7B-9447-A0FD-E450B003B8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891928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C8AD82D-948E-E244-B86D-C7697A6BE1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1677490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F5255B2-4C07-324F-A1B0-CF0A8EED4B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106366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96B9514-8D79-3E4B-87EB-B33D559DB79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6296" y="2320803"/>
                <a:ext cx="182880" cy="182880"/>
              </a:xfrm>
              <a:prstGeom prst="ellipse">
                <a:avLst/>
              </a:prstGeom>
              <a:pattFill prst="wave">
                <a:fgClr>
                  <a:schemeClr val="tx1">
                    <a:lumMod val="65000"/>
                    <a:lumOff val="35000"/>
                  </a:schemeClr>
                </a:fgClr>
                <a:bgClr>
                  <a:srgbClr val="92D050"/>
                </a:bgClr>
              </a:patt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5" name="Right Brace 34">
                <a:extLst>
                  <a:ext uri="{FF2B5EF4-FFF2-40B4-BE49-F238E27FC236}">
                    <a16:creationId xmlns:a16="http://schemas.microsoft.com/office/drawing/2014/main" id="{E5EB4BCB-D928-CE44-9C44-230559DBF37B}"/>
                  </a:ext>
                </a:extLst>
              </p:cNvPr>
              <p:cNvSpPr/>
              <p:nvPr/>
            </p:nvSpPr>
            <p:spPr>
              <a:xfrm>
                <a:off x="1843021" y="1680722"/>
                <a:ext cx="241016" cy="822961"/>
              </a:xfrm>
              <a:prstGeom prst="rightBrace">
                <a:avLst>
                  <a:gd name="adj1" fmla="val 37200"/>
                  <a:gd name="adj2" fmla="val 50000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14176E-5246-DE4C-93E8-B0ED603BDF00}"/>
                    </a:ext>
                  </a:extLst>
                </p:cNvPr>
                <p:cNvSpPr txBox="1"/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dirty="0">
                      <a:solidFill>
                        <a:srgbClr val="000000"/>
                      </a:solidFill>
                      <a:sym typeface="Helvetica Light"/>
                    </a:rPr>
                    <a:t>slack capacity</a:t>
                  </a:r>
                  <a:r>
                    <a:rPr kumimoji="0" lang="en-US" sz="1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sym typeface="Helvetica Light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𝛿</m:t>
                      </m:r>
                      <m:r>
                        <a:rPr kumimoji="0" lang="en-US" sz="1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𝑛</m:t>
                          </m:r>
                        </m:e>
                        <m:sup>
                          <m:r>
                            <a:rPr kumimoji="0" lang="en-US" sz="1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Light"/>
                            </a:rPr>
                            <m:t>𝛼</m:t>
                          </m:r>
                        </m:sup>
                      </m:sSup>
                    </m:oMath>
                  </a14:m>
                  <a:endPara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1EE45C-F03A-0D45-AFA2-1A81166D8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015" y="3848325"/>
                  <a:ext cx="2369834" cy="969796"/>
                </a:xfrm>
                <a:prstGeom prst="rect">
                  <a:avLst/>
                </a:prstGeom>
                <a:blipFill>
                  <a:blip r:embed="rId3"/>
                  <a:stretch>
                    <a:fillRect l="-2913" t="-2326" r="-29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B703481-8623-2F43-8F40-6A6D5D798385}"/>
                    </a:ext>
                  </a:extLst>
                </p:cNvPr>
                <p:cNvSpPr txBox="1"/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𝛼</m:t>
                        </m:r>
                      </m:oMath>
                    </m:oMathPara>
                  </a14:m>
                  <a:endParaRPr kumimoji="0" lang="en-US" sz="20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5A83E44-8086-6841-BD0C-B82B10974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687" y="4593776"/>
                  <a:ext cx="662906" cy="8126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B704189-8D79-F345-831D-58F41C1B402A}"/>
                    </a:ext>
                  </a:extLst>
                </p:cNvPr>
                <p:cNvSpPr/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/>
                    <a:t>max server need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sz="14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E5AD36B-0D99-6546-BD9A-6FF54BC71B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955" y="1454458"/>
                  <a:ext cx="2878856" cy="1030060"/>
                </a:xfrm>
                <a:prstGeom prst="rect">
                  <a:avLst/>
                </a:prstGeom>
                <a:blipFill>
                  <a:blip r:embed="rId5"/>
                  <a:stretch>
                    <a:fillRect t="-2174" r="-24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283F530-4A91-144F-B8F6-303641460CFA}"/>
                    </a:ext>
                  </a:extLst>
                </p:cNvPr>
                <p:cNvSpPr txBox="1"/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𝛾</m:t>
                        </m:r>
                      </m:oMath>
                    </m:oMathPara>
                  </a14:m>
                  <a:endParaRPr kumimoji="0" lang="en-US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2CC9F5D-5D66-3746-889A-BF780B6B9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191" y="1234137"/>
                  <a:ext cx="623037" cy="812603"/>
                </a:xfrm>
                <a:prstGeom prst="rect">
                  <a:avLst/>
                </a:prstGeom>
                <a:blipFill>
                  <a:blip r:embed="rId6"/>
                  <a:stretch>
                    <a:fillRect l="-714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5683E9-0E5F-9448-9C48-6AC067E095FD}"/>
                </a:ext>
              </a:extLst>
            </p:cNvPr>
            <p:cNvGrpSpPr/>
            <p:nvPr/>
          </p:nvGrpSpPr>
          <p:grpSpPr>
            <a:xfrm>
              <a:off x="3003605" y="2245237"/>
              <a:ext cx="542793" cy="690712"/>
              <a:chOff x="8375059" y="4582524"/>
              <a:chExt cx="542793" cy="6907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0DAF985-D97D-634C-83CB-082A2415A151}"/>
                      </a:ext>
                    </a:extLst>
                  </p:cNvPr>
                  <p:cNvSpPr txBox="1"/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4485406-69D4-3A44-ADF9-86226B4828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059" y="4582524"/>
                    <a:ext cx="542793" cy="69071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1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087A4DC-1828-AB43-A49E-E635F2812D0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8842001" y="4855974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297AD2-657D-F44E-8A13-2DD441E8F0A6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54" y="5011699"/>
              <a:ext cx="4895031" cy="0"/>
            </a:xfrm>
            <a:prstGeom prst="line">
              <a:avLst/>
            </a:prstGeom>
            <a:noFill/>
            <a:ln w="508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35833D6-F599-7140-B51B-41A6219D95F6}"/>
                </a:ext>
              </a:extLst>
            </p:cNvPr>
            <p:cNvGrpSpPr/>
            <p:nvPr/>
          </p:nvGrpSpPr>
          <p:grpSpPr>
            <a:xfrm>
              <a:off x="4805321" y="4940544"/>
              <a:ext cx="993153" cy="690711"/>
              <a:chOff x="8349259" y="4859881"/>
              <a:chExt cx="993153" cy="69071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283731D-B07E-3A46-8727-1F319C1ACE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981F599-7533-A646-BA1C-CD3634C8A899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f>
                            <m:fPr>
                              <m:type m:val="lin"/>
                              <m:ctrlP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1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E1EE8E7-34AF-C243-95FF-2E1BFDE4D9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259" y="4859881"/>
                    <a:ext cx="993153" cy="69071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6364" t="-90323" r="-4545" b="-15161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3BDF942-5916-B646-B031-6B79AACE6757}"/>
                    </a:ext>
                  </a:extLst>
                </p:cNvPr>
                <p:cNvSpPr txBox="1"/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8255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Light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C80E288-1022-8D4E-90E4-7CCF76755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378" y="4924843"/>
                  <a:ext cx="542792" cy="6907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2BBD9B-075D-304A-8736-BBA33AC6FF4C}"/>
                </a:ext>
              </a:extLst>
            </p:cNvPr>
            <p:cNvGrpSpPr/>
            <p:nvPr/>
          </p:nvGrpSpPr>
          <p:grpSpPr>
            <a:xfrm>
              <a:off x="6915724" y="4940544"/>
              <a:ext cx="542793" cy="690711"/>
              <a:chOff x="8620737" y="4859881"/>
              <a:chExt cx="542793" cy="69071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C7041E9-8B1B-5341-8053-BA6E633CC6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0755" y="4870313"/>
                <a:ext cx="0" cy="109728"/>
              </a:xfrm>
              <a:prstGeom prst="line">
                <a:avLst/>
              </a:prstGeom>
              <a:noFill/>
              <a:ln w="50800" cap="flat">
                <a:solidFill>
                  <a:schemeClr val="tx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225834C-68CF-0C4C-901C-688F96217731}"/>
                      </a:ext>
                    </a:extLst>
                  </p:cNvPr>
                  <p:cNvSpPr txBox="1"/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50800" tIns="50800" rIns="50800" bIns="50800" numCol="1" spcCol="38100" rtlCol="0" anchor="ctr">
                    <a:spAutoFit/>
                  </a:bodyPr>
                  <a:lstStyle/>
                  <a:p>
                    <a:pPr marL="0" marR="0" indent="0" algn="ctr" defTabSz="8255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0" lang="en-US" sz="1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oMath>
                      </m:oMathPara>
                    </a14:m>
                    <a:endParaRPr kumimoji="0" lang="en-US" sz="16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CEF379A-F4CC-0249-B47E-63013A3380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0737" y="4859881"/>
                    <a:ext cx="542793" cy="6907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8768EC-003E-AB4B-A2EC-AEDB4EE5B714}"/>
                </a:ext>
              </a:extLst>
            </p:cNvPr>
            <p:cNvGrpSpPr/>
            <p:nvPr/>
          </p:nvGrpSpPr>
          <p:grpSpPr>
            <a:xfrm>
              <a:off x="5296817" y="2567296"/>
              <a:ext cx="1845112" cy="2438968"/>
              <a:chOff x="4890777" y="2352107"/>
              <a:chExt cx="1845112" cy="243896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F9E8EC28-72DD-F949-8F59-BAC009BB380D}"/>
                  </a:ext>
                </a:extLst>
              </p:cNvPr>
              <p:cNvSpPr/>
              <p:nvPr/>
            </p:nvSpPr>
            <p:spPr>
              <a:xfrm>
                <a:off x="4900613" y="2362200"/>
                <a:ext cx="1828800" cy="2428875"/>
              </a:xfrm>
              <a:custGeom>
                <a:avLst/>
                <a:gdLst>
                  <a:gd name="connsiteX0" fmla="*/ 1824037 w 1828800"/>
                  <a:gd name="connsiteY0" fmla="*/ 0 h 2428875"/>
                  <a:gd name="connsiteX1" fmla="*/ 1828800 w 1828800"/>
                  <a:gd name="connsiteY1" fmla="*/ 2428875 h 2428875"/>
                  <a:gd name="connsiteX2" fmla="*/ 0 w 1828800"/>
                  <a:gd name="connsiteY2" fmla="*/ 2424113 h 2428875"/>
                  <a:gd name="connsiteX3" fmla="*/ 1824037 w 1828800"/>
                  <a:gd name="connsiteY3" fmla="*/ 0 h 242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8800" h="2428875">
                    <a:moveTo>
                      <a:pt x="1824037" y="0"/>
                    </a:moveTo>
                    <a:cubicBezTo>
                      <a:pt x="1825625" y="809625"/>
                      <a:pt x="1827212" y="1619250"/>
                      <a:pt x="1828800" y="2428875"/>
                    </a:cubicBezTo>
                    <a:lnTo>
                      <a:pt x="0" y="2424113"/>
                    </a:lnTo>
                    <a:lnTo>
                      <a:pt x="1824037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0F2B343-5E3C-2740-A233-2A5731E03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889" y="2352107"/>
                <a:ext cx="0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160AD2A-241D-F841-BB78-C8B407C658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0777" y="4790083"/>
                <a:ext cx="1838924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D1A41806-8B14-3449-9095-10DEF88130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6965" y="2352107"/>
                <a:ext cx="1838924" cy="243797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42EA04D-6E60-6540-8767-1B0917264808}"/>
                </a:ext>
              </a:extLst>
            </p:cNvPr>
            <p:cNvSpPr/>
            <p:nvPr/>
          </p:nvSpPr>
          <p:spPr>
            <a:xfrm>
              <a:off x="3468935" y="2574120"/>
              <a:ext cx="3660720" cy="2439422"/>
            </a:xfrm>
            <a:custGeom>
              <a:avLst/>
              <a:gdLst>
                <a:gd name="connsiteX0" fmla="*/ 0 w 3625795"/>
                <a:gd name="connsiteY0" fmla="*/ 2417197 h 2425148"/>
                <a:gd name="connsiteX1" fmla="*/ 1796995 w 3625795"/>
                <a:gd name="connsiteY1" fmla="*/ 2425148 h 2425148"/>
                <a:gd name="connsiteX2" fmla="*/ 3625795 w 3625795"/>
                <a:gd name="connsiteY2" fmla="*/ 0 h 2425148"/>
                <a:gd name="connsiteX3" fmla="*/ 0 w 3625795"/>
                <a:gd name="connsiteY3" fmla="*/ 2417197 h 2425148"/>
                <a:gd name="connsiteX0" fmla="*/ 0 w 3625795"/>
                <a:gd name="connsiteY0" fmla="*/ 2417197 h 2434673"/>
                <a:gd name="connsiteX1" fmla="*/ 1790645 w 3625795"/>
                <a:gd name="connsiteY1" fmla="*/ 2434673 h 2434673"/>
                <a:gd name="connsiteX2" fmla="*/ 3625795 w 3625795"/>
                <a:gd name="connsiteY2" fmla="*/ 0 h 2434673"/>
                <a:gd name="connsiteX3" fmla="*/ 0 w 3625795"/>
                <a:gd name="connsiteY3" fmla="*/ 2417197 h 2434673"/>
                <a:gd name="connsiteX0" fmla="*/ 0 w 3654370"/>
                <a:gd name="connsiteY0" fmla="*/ 2426722 h 2434673"/>
                <a:gd name="connsiteX1" fmla="*/ 1819220 w 3654370"/>
                <a:gd name="connsiteY1" fmla="*/ 2434673 h 2434673"/>
                <a:gd name="connsiteX2" fmla="*/ 3654370 w 3654370"/>
                <a:gd name="connsiteY2" fmla="*/ 0 h 2434673"/>
                <a:gd name="connsiteX3" fmla="*/ 0 w 3654370"/>
                <a:gd name="connsiteY3" fmla="*/ 2426722 h 2434673"/>
                <a:gd name="connsiteX0" fmla="*/ 0 w 3660720"/>
                <a:gd name="connsiteY0" fmla="*/ 2436247 h 2436247"/>
                <a:gd name="connsiteX1" fmla="*/ 1825570 w 3660720"/>
                <a:gd name="connsiteY1" fmla="*/ 2434673 h 2436247"/>
                <a:gd name="connsiteX2" fmla="*/ 3660720 w 3660720"/>
                <a:gd name="connsiteY2" fmla="*/ 0 h 2436247"/>
                <a:gd name="connsiteX3" fmla="*/ 0 w 3660720"/>
                <a:gd name="connsiteY3" fmla="*/ 2436247 h 2436247"/>
                <a:gd name="connsiteX0" fmla="*/ 0 w 3663895"/>
                <a:gd name="connsiteY0" fmla="*/ 2448947 h 2448947"/>
                <a:gd name="connsiteX1" fmla="*/ 1825570 w 3663895"/>
                <a:gd name="connsiteY1" fmla="*/ 2447373 h 2448947"/>
                <a:gd name="connsiteX2" fmla="*/ 3663895 w 3663895"/>
                <a:gd name="connsiteY2" fmla="*/ 0 h 2448947"/>
                <a:gd name="connsiteX3" fmla="*/ 0 w 3663895"/>
                <a:gd name="connsiteY3" fmla="*/ 2448947 h 2448947"/>
                <a:gd name="connsiteX0" fmla="*/ 0 w 3660720"/>
                <a:gd name="connsiteY0" fmla="*/ 2439422 h 2439422"/>
                <a:gd name="connsiteX1" fmla="*/ 1825570 w 3660720"/>
                <a:gd name="connsiteY1" fmla="*/ 2437848 h 2439422"/>
                <a:gd name="connsiteX2" fmla="*/ 3660720 w 3660720"/>
                <a:gd name="connsiteY2" fmla="*/ 0 h 2439422"/>
                <a:gd name="connsiteX3" fmla="*/ 0 w 3660720"/>
                <a:gd name="connsiteY3" fmla="*/ 2439422 h 24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0720" h="2439422">
                  <a:moveTo>
                    <a:pt x="0" y="2439422"/>
                  </a:moveTo>
                  <a:lnTo>
                    <a:pt x="1825570" y="2437848"/>
                  </a:lnTo>
                  <a:lnTo>
                    <a:pt x="3660720" y="0"/>
                  </a:lnTo>
                  <a:lnTo>
                    <a:pt x="0" y="2439422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74C712-14C6-934D-A355-F24DA2EA470F}"/>
              </a:ext>
            </a:extLst>
          </p:cNvPr>
          <p:cNvCxnSpPr>
            <a:cxnSpLocks/>
          </p:cNvCxnSpPr>
          <p:nvPr/>
        </p:nvCxnSpPr>
        <p:spPr>
          <a:xfrm flipH="1" flipV="1">
            <a:off x="7972581" y="2416608"/>
            <a:ext cx="682642" cy="1588040"/>
          </a:xfrm>
          <a:prstGeom prst="line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07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93854</TotalTime>
  <Words>1222</Words>
  <Application>Microsoft Macintosh PowerPoint</Application>
  <PresentationFormat>Widescreen</PresentationFormat>
  <Paragraphs>304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Gill Sans Light</vt:lpstr>
      <vt:lpstr>Helvetica</vt:lpstr>
      <vt:lpstr>Helvetica Light</vt:lpstr>
      <vt:lpstr>Helvetica Neue Medium</vt:lpstr>
      <vt:lpstr>Wingdings</vt:lpstr>
      <vt:lpstr>Office Theme</vt:lpstr>
      <vt:lpstr>1_White</vt:lpstr>
      <vt:lpstr>Sharp Waiting-Time Bounds for Multiserver Jobs</vt:lpstr>
      <vt:lpstr>Datacenter and queueing models</vt:lpstr>
      <vt:lpstr>What is a multiserver job?</vt:lpstr>
      <vt:lpstr>Why multiserver jobs?</vt:lpstr>
      <vt:lpstr>Model: n servers, K classes</vt:lpstr>
      <vt:lpstr>Model: n servers, K classes</vt:lpstr>
      <vt:lpstr>Model: n servers, K classes</vt:lpstr>
      <vt:lpstr>Mean waiting times (averaged over all jobs)</vt:lpstr>
      <vt:lpstr>Goal: understand waiting time    in steady-state when n is large</vt:lpstr>
      <vt:lpstr>Related work</vt:lpstr>
      <vt:lpstr>Scaling regimes with n→∞</vt:lpstr>
      <vt:lpstr>Slack capacity δ and heavy traffic</vt:lpstr>
      <vt:lpstr>Results (simplified)</vt:lpstr>
      <vt:lpstr>Results (simplified) cont’d</vt:lpstr>
      <vt:lpstr>FCFS</vt:lpstr>
      <vt:lpstr>Lower bound</vt:lpstr>
      <vt:lpstr>P-Priority</vt:lpstr>
      <vt:lpstr>Optimal order</vt:lpstr>
      <vt:lpstr>General proof plan</vt:lpstr>
      <vt:lpstr>General proof plan</vt:lpstr>
      <vt:lpstr>General proof plan</vt:lpstr>
      <vt:lpstr>Open problems</vt:lpstr>
    </vt:vector>
  </TitlesOfParts>
  <Company>Engineering IT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Weina</dc:creator>
  <cp:lastModifiedBy>Microsoft Office User</cp:lastModifiedBy>
  <cp:revision>4094</cp:revision>
  <cp:lastPrinted>2017-12-08T15:01:54Z</cp:lastPrinted>
  <dcterms:created xsi:type="dcterms:W3CDTF">2017-05-23T15:28:10Z</dcterms:created>
  <dcterms:modified xsi:type="dcterms:W3CDTF">2023-06-18T07:29:05Z</dcterms:modified>
</cp:coreProperties>
</file>